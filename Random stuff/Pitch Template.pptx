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33"/>
  </p:notesMasterIdLst>
  <p:handoutMasterIdLst>
    <p:handoutMasterId r:id="rId34"/>
  </p:handoutMasterIdLst>
  <p:sldIdLst>
    <p:sldId id="312" r:id="rId5"/>
    <p:sldId id="304" r:id="rId6"/>
    <p:sldId id="281" r:id="rId7"/>
    <p:sldId id="282" r:id="rId8"/>
    <p:sldId id="334" r:id="rId9"/>
    <p:sldId id="335" r:id="rId10"/>
    <p:sldId id="336" r:id="rId11"/>
    <p:sldId id="314" r:id="rId12"/>
    <p:sldId id="320" r:id="rId13"/>
    <p:sldId id="321"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15" r:id="rId27"/>
    <p:sldId id="337" r:id="rId28"/>
    <p:sldId id="338" r:id="rId29"/>
    <p:sldId id="319" r:id="rId30"/>
    <p:sldId id="339" r:id="rId31"/>
    <p:sldId id="297" r:id="rId32"/>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998" autoAdjust="0"/>
  </p:normalViewPr>
  <p:slideViewPr>
    <p:cSldViewPr snapToGrid="0" snapToObjects="1">
      <p:cViewPr varScale="1">
        <p:scale>
          <a:sx n="55" d="100"/>
          <a:sy n="55" d="100"/>
        </p:scale>
        <p:origin x="1096" y="36"/>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ocuments\ALX\Week%205%20Data%20Visualizatio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ocuments\ALX\Week%205%20Data%20Visualization.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Approximate Reading Proficiency Skills for grade 1-6 learners</a:t>
            </a:r>
            <a:r>
              <a:rPr lang="en-US" baseline="0"/>
              <a:t> in rural schools in Kenya</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1"/>
          <c:order val="0"/>
          <c:tx>
            <c:strRef>
              <c:f>Table!$C$1</c:f>
              <c:strCache>
                <c:ptCount val="1"/>
                <c:pt idx="0">
                  <c:v>Approximate Proficiency</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972-41AD-B34F-A79B673A646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972-41AD-B34F-A79B673A646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972-41AD-B34F-A79B673A646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9972-41AD-B34F-A79B673A646A}"/>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9972-41AD-B34F-A79B673A646A}"/>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9972-41AD-B34F-A79B673A646A}"/>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val>
            <c:numRef>
              <c:f>Table!$C$2:$C$7</c:f>
              <c:numCache>
                <c:formatCode>General</c:formatCode>
                <c:ptCount val="6"/>
                <c:pt idx="0">
                  <c:v>23</c:v>
                </c:pt>
                <c:pt idx="1">
                  <c:v>15</c:v>
                </c:pt>
                <c:pt idx="2">
                  <c:v>22</c:v>
                </c:pt>
                <c:pt idx="3">
                  <c:v>30</c:v>
                </c:pt>
                <c:pt idx="4">
                  <c:v>0</c:v>
                </c:pt>
                <c:pt idx="5">
                  <c:v>30</c:v>
                </c:pt>
              </c:numCache>
            </c:numRef>
          </c:val>
          <c:extLst>
            <c:ext xmlns:c16="http://schemas.microsoft.com/office/drawing/2014/chart" uri="{C3380CC4-5D6E-409C-BE32-E72D297353CC}">
              <c16:uniqueId val="{0000000C-9972-41AD-B34F-A79B673A646A}"/>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a:t>
            </a:r>
            <a:r>
              <a:rPr lang="en-US" baseline="0"/>
              <a:t> Clustered Bar chart representing reading literacy metrics against the Approximate proficiency of grade 1-6 learners in rural areas in Kenya </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5893448241650208"/>
          <c:y val="0.18397569477171111"/>
          <c:w val="0.72451339845405927"/>
          <c:h val="0.70991497156605421"/>
        </c:manualLayout>
      </c:layout>
      <c:barChart>
        <c:barDir val="bar"/>
        <c:grouping val="clustered"/>
        <c:varyColors val="0"/>
        <c:ser>
          <c:idx val="0"/>
          <c:order val="0"/>
          <c:tx>
            <c:strRef>
              <c:f>Table!$C$1</c:f>
              <c:strCache>
                <c:ptCount val="1"/>
                <c:pt idx="0">
                  <c:v>Approximate Proficiency</c:v>
                </c:pt>
              </c:strCache>
            </c:strRef>
          </c:tx>
          <c:spPr>
            <a:solidFill>
              <a:schemeClr val="accent1"/>
            </a:solidFill>
            <a:ln>
              <a:noFill/>
            </a:ln>
            <a:effectLst/>
          </c:spPr>
          <c:invertIfNegative val="0"/>
          <c:cat>
            <c:strRef>
              <c:f>Table!$B$2:$B$7</c:f>
              <c:strCache>
                <c:ptCount val="6"/>
                <c:pt idx="0">
                  <c:v>English zero readers (unable to read a word)</c:v>
                </c:pt>
                <c:pt idx="1">
                  <c:v>Fluent in English</c:v>
                </c:pt>
                <c:pt idx="2">
                  <c:v>Reading comprehension and fluency</c:v>
                </c:pt>
                <c:pt idx="3">
                  <c:v>Grade 3 level English level comprehension</c:v>
                </c:pt>
                <c:pt idx="4">
                  <c:v>No direct data available</c:v>
                </c:pt>
                <c:pt idx="5">
                  <c:v>Grade 3 English story comprehension</c:v>
                </c:pt>
              </c:strCache>
              <c:extLst/>
            </c:strRef>
          </c:cat>
          <c:val>
            <c:numRef>
              <c:f>Table!$C$2:$C$7</c:f>
              <c:numCache>
                <c:formatCode>General</c:formatCode>
                <c:ptCount val="6"/>
                <c:pt idx="0">
                  <c:v>23</c:v>
                </c:pt>
                <c:pt idx="1">
                  <c:v>15</c:v>
                </c:pt>
                <c:pt idx="2">
                  <c:v>22</c:v>
                </c:pt>
                <c:pt idx="3">
                  <c:v>30</c:v>
                </c:pt>
                <c:pt idx="4">
                  <c:v>0</c:v>
                </c:pt>
                <c:pt idx="5">
                  <c:v>30</c:v>
                </c:pt>
              </c:numCache>
            </c:numRef>
          </c:val>
          <c:extLst>
            <c:ext xmlns:c16="http://schemas.microsoft.com/office/drawing/2014/chart" uri="{C3380CC4-5D6E-409C-BE32-E72D297353CC}">
              <c16:uniqueId val="{00000000-77DF-452C-A5CC-CA8DC7A820F3}"/>
            </c:ext>
          </c:extLst>
        </c:ser>
        <c:ser>
          <c:idx val="1"/>
          <c:order val="1"/>
          <c:tx>
            <c:strRef>
              <c:f>Table!$D$1</c:f>
              <c:strCache>
                <c:ptCount val="1"/>
                <c:pt idx="0">
                  <c:v>Not Proficient</c:v>
                </c:pt>
              </c:strCache>
            </c:strRef>
          </c:tx>
          <c:spPr>
            <a:solidFill>
              <a:schemeClr val="accent2"/>
            </a:solidFill>
            <a:ln>
              <a:noFill/>
            </a:ln>
            <a:effectLst/>
          </c:spPr>
          <c:invertIfNegative val="0"/>
          <c:cat>
            <c:strRef>
              <c:f>Table!$B$2:$B$7</c:f>
              <c:strCache>
                <c:ptCount val="6"/>
                <c:pt idx="0">
                  <c:v>English zero readers (unable to read a word)</c:v>
                </c:pt>
                <c:pt idx="1">
                  <c:v>Fluent in English</c:v>
                </c:pt>
                <c:pt idx="2">
                  <c:v>Reading comprehension and fluency</c:v>
                </c:pt>
                <c:pt idx="3">
                  <c:v>Grade 3 level English level comprehension</c:v>
                </c:pt>
                <c:pt idx="4">
                  <c:v>No direct data available</c:v>
                </c:pt>
                <c:pt idx="5">
                  <c:v>Grade 3 English story comprehension</c:v>
                </c:pt>
              </c:strCache>
              <c:extLst/>
            </c:strRef>
          </c:cat>
          <c:val>
            <c:numRef>
              <c:f>Table!$D$2:$D$7</c:f>
              <c:numCache>
                <c:formatCode>General</c:formatCode>
                <c:ptCount val="6"/>
                <c:pt idx="0">
                  <c:v>77</c:v>
                </c:pt>
                <c:pt idx="1">
                  <c:v>85</c:v>
                </c:pt>
                <c:pt idx="2">
                  <c:v>78</c:v>
                </c:pt>
                <c:pt idx="3">
                  <c:v>70</c:v>
                </c:pt>
                <c:pt idx="4">
                  <c:v>0</c:v>
                </c:pt>
                <c:pt idx="5">
                  <c:v>70</c:v>
                </c:pt>
              </c:numCache>
            </c:numRef>
          </c:val>
          <c:extLst>
            <c:ext xmlns:c16="http://schemas.microsoft.com/office/drawing/2014/chart" uri="{C3380CC4-5D6E-409C-BE32-E72D297353CC}">
              <c16:uniqueId val="{00000001-77DF-452C-A5CC-CA8DC7A820F3}"/>
            </c:ext>
          </c:extLst>
        </c:ser>
        <c:ser>
          <c:idx val="2"/>
          <c:order val="2"/>
          <c:tx>
            <c:strRef>
              <c:f>Table!$E$1</c:f>
              <c:strCache>
                <c:ptCount val="1"/>
                <c:pt idx="0">
                  <c:v>Source</c:v>
                </c:pt>
              </c:strCache>
            </c:strRef>
          </c:tx>
          <c:spPr>
            <a:solidFill>
              <a:schemeClr val="accent3"/>
            </a:solidFill>
            <a:ln>
              <a:noFill/>
            </a:ln>
            <a:effectLst/>
          </c:spPr>
          <c:invertIfNegative val="0"/>
          <c:cat>
            <c:strRef>
              <c:f>Table!$B$2:$B$7</c:f>
              <c:strCache>
                <c:ptCount val="6"/>
                <c:pt idx="0">
                  <c:v>English zero readers (unable to read a word)</c:v>
                </c:pt>
                <c:pt idx="1">
                  <c:v>Fluent in English</c:v>
                </c:pt>
                <c:pt idx="2">
                  <c:v>Reading comprehension and fluency</c:v>
                </c:pt>
                <c:pt idx="3">
                  <c:v>Grade 3 level English level comprehension</c:v>
                </c:pt>
                <c:pt idx="4">
                  <c:v>No direct data available</c:v>
                </c:pt>
                <c:pt idx="5">
                  <c:v>Grade 3 English story comprehension</c:v>
                </c:pt>
              </c:strCache>
              <c:extLst/>
            </c:strRef>
          </c:cat>
          <c:val>
            <c:numRef>
              <c:f>Table!$E$2:$E$7</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2-77DF-452C-A5CC-CA8DC7A820F3}"/>
            </c:ext>
          </c:extLst>
        </c:ser>
        <c:dLbls>
          <c:showLegendKey val="0"/>
          <c:showVal val="0"/>
          <c:showCatName val="0"/>
          <c:showSerName val="0"/>
          <c:showPercent val="0"/>
          <c:showBubbleSize val="0"/>
        </c:dLbls>
        <c:gapWidth val="182"/>
        <c:axId val="926362800"/>
        <c:axId val="926367120"/>
      </c:barChart>
      <c:catAx>
        <c:axId val="926362800"/>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Reading</a:t>
                </a:r>
                <a:r>
                  <a:rPr lang="en-US" baseline="0"/>
                  <a:t> literacy Metrics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ln>
                  <a:noFill/>
                </a:ln>
                <a:solidFill>
                  <a:schemeClr val="tx1">
                    <a:lumMod val="65000"/>
                    <a:lumOff val="35000"/>
                  </a:schemeClr>
                </a:solidFill>
                <a:latin typeface="+mn-lt"/>
                <a:ea typeface="+mn-ea"/>
                <a:cs typeface="+mn-cs"/>
              </a:defRPr>
            </a:pPr>
            <a:endParaRPr lang="en-US"/>
          </a:p>
        </c:txPr>
        <c:crossAx val="926367120"/>
        <c:crosses val="autoZero"/>
        <c:auto val="1"/>
        <c:lblAlgn val="ctr"/>
        <c:lblOffset val="100"/>
        <c:noMultiLvlLbl val="0"/>
      </c:catAx>
      <c:valAx>
        <c:axId val="92636712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Percentage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6362800"/>
        <c:crosses val="autoZero"/>
        <c:crossBetween val="between"/>
      </c:valAx>
      <c:spPr>
        <a:noFill/>
        <a:ln>
          <a:noFill/>
        </a:ln>
        <a:effectLst/>
      </c:spPr>
    </c:plotArea>
    <c:legend>
      <c:legendPos val="b"/>
      <c:layout>
        <c:manualLayout>
          <c:xMode val="edge"/>
          <c:yMode val="edge"/>
          <c:x val="0.33196259617032409"/>
          <c:y val="0.96497351496134776"/>
          <c:w val="0.33607469491571285"/>
          <c:h val="3.5026485038652216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hyperlink" Target="http://rti.org/" TargetMode="Externa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347241"/>
            <a:ext cx="6392421" cy="4988689"/>
          </a:xfrm>
        </p:spPr>
        <p:txBody>
          <a:bodyPr anchor="ctr"/>
          <a:lstStyle/>
          <a:p>
            <a:r>
              <a:rPr lang="en-US" sz="4000" dirty="0"/>
              <a:t>MIND BRIDGE:</a:t>
            </a:r>
            <a:br>
              <a:rPr lang="en-US" sz="1800" dirty="0"/>
            </a:br>
            <a:r>
              <a:rPr lang="en-US" sz="1800" dirty="0"/>
              <a:t>1. Gleta </a:t>
            </a:r>
            <a:r>
              <a:rPr lang="en-US" sz="1800" dirty="0" err="1"/>
              <a:t>Kijogi</a:t>
            </a:r>
            <a:r>
              <a:rPr lang="en-US" sz="1800" dirty="0"/>
              <a:t>- Data Analyst</a:t>
            </a:r>
            <a:br>
              <a:rPr lang="en-US" sz="1800" dirty="0"/>
            </a:br>
            <a:r>
              <a:rPr lang="en-US" sz="1800" dirty="0"/>
              <a:t> 2. Benard </a:t>
            </a:r>
            <a:r>
              <a:rPr lang="en-US" sz="1800" dirty="0" err="1"/>
              <a:t>Omboga</a:t>
            </a:r>
            <a:r>
              <a:rPr lang="en-US" sz="1800" dirty="0"/>
              <a:t>- Data Analyst</a:t>
            </a:r>
            <a:br>
              <a:rPr lang="en-US" sz="1800" dirty="0"/>
            </a:br>
            <a:r>
              <a:rPr lang="en-US" sz="1800" dirty="0"/>
              <a:t> 3. Yvette Adhiambo- UI/UX designer </a:t>
            </a:r>
            <a:br>
              <a:rPr lang="en-US" sz="1800" dirty="0"/>
            </a:br>
            <a:r>
              <a:rPr lang="en-US" sz="1800" dirty="0"/>
              <a:t>4. Jackson </a:t>
            </a:r>
            <a:r>
              <a:rPr lang="en-US" sz="1800" dirty="0" err="1"/>
              <a:t>Mutava</a:t>
            </a:r>
            <a:r>
              <a:rPr lang="en-US" sz="1800" dirty="0"/>
              <a:t>- UX researcher </a:t>
            </a:r>
            <a:br>
              <a:rPr lang="en-US" sz="1800" dirty="0"/>
            </a:br>
            <a:r>
              <a:rPr lang="en-US" sz="1800" dirty="0"/>
              <a:t>5. Maxwel </a:t>
            </a:r>
            <a:r>
              <a:rPr lang="en-US" sz="1800" dirty="0" err="1"/>
              <a:t>Kiambati</a:t>
            </a:r>
            <a:r>
              <a:rPr lang="en-US" sz="1800" dirty="0"/>
              <a:t>- Project Manager </a:t>
            </a:r>
            <a:br>
              <a:rPr lang="en-US" sz="1800" dirty="0"/>
            </a:br>
            <a:r>
              <a:rPr lang="en-US" sz="1800" dirty="0"/>
              <a:t>6. Nickson Safari- Product manager </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agenda</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normAutofit lnSpcReduction="10000"/>
          </a:bodyPr>
          <a:lstStyle/>
          <a:p>
            <a:r>
              <a:rPr lang="en-US" dirty="0"/>
              <a:t>Problem Statement</a:t>
            </a:r>
          </a:p>
          <a:p>
            <a:r>
              <a:rPr lang="en-US" dirty="0"/>
              <a:t>Example (User Persona)</a:t>
            </a:r>
          </a:p>
          <a:p>
            <a:r>
              <a:rPr lang="en-US" dirty="0"/>
              <a:t>Recommended Solution</a:t>
            </a:r>
          </a:p>
          <a:p>
            <a:r>
              <a:rPr lang="en-US" dirty="0"/>
              <a:t>Rationale</a:t>
            </a:r>
          </a:p>
          <a:p>
            <a:r>
              <a:rPr lang="en-US" dirty="0"/>
              <a:t>Employer Benefits</a:t>
            </a:r>
          </a:p>
          <a:p>
            <a:r>
              <a:rPr lang="en-US" dirty="0"/>
              <a:t>Next steps if funded</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914399" y="1003299"/>
            <a:ext cx="6379029" cy="1355203"/>
          </a:xfrm>
        </p:spPr>
        <p:txBody>
          <a:bodyPr/>
          <a:lstStyle/>
          <a:p>
            <a:r>
              <a:rPr lang="en-US" dirty="0"/>
              <a:t>Problem statement Summary</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914399" y="2540001"/>
            <a:ext cx="6379029" cy="4064000"/>
          </a:xfrm>
        </p:spPr>
        <p:txBody>
          <a:bodyPr>
            <a:normAutofit/>
          </a:bodyPr>
          <a:lstStyle/>
          <a:p>
            <a:r>
              <a:rPr lang="en-US" dirty="0"/>
              <a:t>In rural Kenyan primary schools, most children in Grades 1–6 fail to gain essential reading skills under CBC, leaving them at risk of long-term academic failure, poverty, and limited future opportunities.</a:t>
            </a:r>
          </a:p>
        </p:txBody>
      </p:sp>
      <p:pic>
        <p:nvPicPr>
          <p:cNvPr id="9" name="Picture Placeholder 8">
            <a:extLst>
              <a:ext uri="{FF2B5EF4-FFF2-40B4-BE49-F238E27FC236}">
                <a16:creationId xmlns:a16="http://schemas.microsoft.com/office/drawing/2014/main" id="{9B291C38-0804-84C6-FFFF-4AA7519272DF}"/>
              </a:ext>
            </a:extLst>
          </p:cNvPr>
          <p:cNvPicPr>
            <a:picLocks noGrp="1" noChangeAspect="1"/>
          </p:cNvPicPr>
          <p:nvPr>
            <p:ph type="pic" sz="quarter" idx="11"/>
          </p:nvPr>
        </p:nvPicPr>
        <p:blipFill>
          <a:blip r:embed="rId3"/>
          <a:srcRect l="27436" r="27436"/>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923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US" sz="2800" dirty="0"/>
              <a:t>User persona; Amina- 8yrs old</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2303029"/>
            <a:ext cx="7965460" cy="3497698"/>
          </a:xfrm>
        </p:spPr>
        <p:txBody>
          <a:bodyPr/>
          <a:lstStyle/>
          <a:p>
            <a:pPr lvl="0"/>
            <a:r>
              <a:rPr lang="en-US" dirty="0"/>
              <a:t>Struggles to read simple class texts.</a:t>
            </a:r>
          </a:p>
          <a:p>
            <a:pPr lvl="0"/>
            <a:r>
              <a:rPr lang="en-US" dirty="0"/>
              <a:t>Her teacher has 70+ students per class, making individual support impossible.</a:t>
            </a:r>
          </a:p>
          <a:p>
            <a:pPr lvl="0"/>
            <a:r>
              <a:rPr lang="en-US" dirty="0"/>
              <a:t>Parents cannot afford extra help.</a:t>
            </a:r>
          </a:p>
          <a:p>
            <a:pPr lvl="0"/>
            <a:r>
              <a:rPr lang="en-US" dirty="0"/>
              <a:t>Dreams of becoming a doctor, but without literacy, her chances are slim as she would be behind even in the next grade.</a:t>
            </a:r>
          </a:p>
          <a:p>
            <a:endParaRPr lang="en-US"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BA80A-541A-64B7-12B6-49CE5C57221E}"/>
              </a:ext>
            </a:extLst>
          </p:cNvPr>
          <p:cNvSpPr>
            <a:spLocks noGrp="1"/>
          </p:cNvSpPr>
          <p:nvPr>
            <p:ph type="title"/>
          </p:nvPr>
        </p:nvSpPr>
        <p:spPr/>
        <p:txBody>
          <a:bodyPr/>
          <a:lstStyle/>
          <a:p>
            <a:r>
              <a:rPr lang="en-US" dirty="0"/>
              <a:t>Data visualization</a:t>
            </a:r>
          </a:p>
        </p:txBody>
      </p:sp>
      <p:sp>
        <p:nvSpPr>
          <p:cNvPr id="3" name="Content Placeholder 2">
            <a:extLst>
              <a:ext uri="{FF2B5EF4-FFF2-40B4-BE49-F238E27FC236}">
                <a16:creationId xmlns:a16="http://schemas.microsoft.com/office/drawing/2014/main" id="{1CA3B539-76FE-7D4F-7433-1361F3902BB9}"/>
              </a:ext>
            </a:extLst>
          </p:cNvPr>
          <p:cNvSpPr>
            <a:spLocks noGrp="1"/>
          </p:cNvSpPr>
          <p:nvPr>
            <p:ph sz="half" idx="2"/>
          </p:nvPr>
        </p:nvSpPr>
        <p:spPr/>
        <p:txBody>
          <a:bodyPr/>
          <a:lstStyle/>
          <a:p>
            <a:pPr marL="0" indent="0">
              <a:buNone/>
            </a:pPr>
            <a:r>
              <a:rPr lang="en-US" dirty="0"/>
              <a:t>TABLE</a:t>
            </a:r>
          </a:p>
          <a:p>
            <a:pPr marL="0" indent="0">
              <a:buNone/>
            </a:pPr>
            <a:endParaRPr lang="en-US" dirty="0"/>
          </a:p>
        </p:txBody>
      </p:sp>
      <p:sp>
        <p:nvSpPr>
          <p:cNvPr id="4" name="Slide Number Placeholder 3">
            <a:extLst>
              <a:ext uri="{FF2B5EF4-FFF2-40B4-BE49-F238E27FC236}">
                <a16:creationId xmlns:a16="http://schemas.microsoft.com/office/drawing/2014/main" id="{007F5873-A1F4-5E83-7000-E7900EDEA4AB}"/>
              </a:ext>
            </a:extLst>
          </p:cNvPr>
          <p:cNvSpPr>
            <a:spLocks noGrp="1"/>
          </p:cNvSpPr>
          <p:nvPr>
            <p:ph type="sldNum" sz="quarter" idx="10"/>
          </p:nvPr>
        </p:nvSpPr>
        <p:spPr/>
        <p:txBody>
          <a:bodyPr/>
          <a:lstStyle/>
          <a:p>
            <a:fld id="{48F63A3B-78C7-47BE-AE5E-E10140E04643}" type="slidenum">
              <a:rPr lang="en-US" smtClean="0"/>
              <a:pPr/>
              <a:t>5</a:t>
            </a:fld>
            <a:endParaRPr lang="en-US" dirty="0"/>
          </a:p>
        </p:txBody>
      </p:sp>
      <p:graphicFrame>
        <p:nvGraphicFramePr>
          <p:cNvPr id="6" name="Table 5">
            <a:extLst>
              <a:ext uri="{FF2B5EF4-FFF2-40B4-BE49-F238E27FC236}">
                <a16:creationId xmlns:a16="http://schemas.microsoft.com/office/drawing/2014/main" id="{D92A1AE6-07C4-78DD-56AD-5E9424BDAB22}"/>
              </a:ext>
            </a:extLst>
          </p:cNvPr>
          <p:cNvGraphicFramePr>
            <a:graphicFrameLocks noGrp="1"/>
          </p:cNvGraphicFramePr>
          <p:nvPr>
            <p:extLst>
              <p:ext uri="{D42A27DB-BD31-4B8C-83A1-F6EECF244321}">
                <p14:modId xmlns:p14="http://schemas.microsoft.com/office/powerpoint/2010/main" val="3923777960"/>
              </p:ext>
            </p:extLst>
          </p:nvPr>
        </p:nvGraphicFramePr>
        <p:xfrm>
          <a:off x="3030045" y="2946977"/>
          <a:ext cx="8826500" cy="3497699"/>
        </p:xfrm>
        <a:graphic>
          <a:graphicData uri="http://schemas.openxmlformats.org/drawingml/2006/table">
            <a:tbl>
              <a:tblPr>
                <a:tableStyleId>{3B4B98B0-60AC-42C2-AFA5-B58CD77FA1E5}</a:tableStyleId>
              </a:tblPr>
              <a:tblGrid>
                <a:gridCol w="609600">
                  <a:extLst>
                    <a:ext uri="{9D8B030D-6E8A-4147-A177-3AD203B41FA5}">
                      <a16:colId xmlns:a16="http://schemas.microsoft.com/office/drawing/2014/main" val="1668029849"/>
                    </a:ext>
                  </a:extLst>
                </a:gridCol>
                <a:gridCol w="2870200">
                  <a:extLst>
                    <a:ext uri="{9D8B030D-6E8A-4147-A177-3AD203B41FA5}">
                      <a16:colId xmlns:a16="http://schemas.microsoft.com/office/drawing/2014/main" val="2730470089"/>
                    </a:ext>
                  </a:extLst>
                </a:gridCol>
                <a:gridCol w="1765300">
                  <a:extLst>
                    <a:ext uri="{9D8B030D-6E8A-4147-A177-3AD203B41FA5}">
                      <a16:colId xmlns:a16="http://schemas.microsoft.com/office/drawing/2014/main" val="1961709532"/>
                    </a:ext>
                  </a:extLst>
                </a:gridCol>
                <a:gridCol w="939800">
                  <a:extLst>
                    <a:ext uri="{9D8B030D-6E8A-4147-A177-3AD203B41FA5}">
                      <a16:colId xmlns:a16="http://schemas.microsoft.com/office/drawing/2014/main" val="508305820"/>
                    </a:ext>
                  </a:extLst>
                </a:gridCol>
                <a:gridCol w="2641600">
                  <a:extLst>
                    <a:ext uri="{9D8B030D-6E8A-4147-A177-3AD203B41FA5}">
                      <a16:colId xmlns:a16="http://schemas.microsoft.com/office/drawing/2014/main" val="162263939"/>
                    </a:ext>
                  </a:extLst>
                </a:gridCol>
              </a:tblGrid>
              <a:tr h="301526">
                <a:tc>
                  <a:txBody>
                    <a:bodyPr/>
                    <a:lstStyle/>
                    <a:p>
                      <a:pPr algn="l" fontAlgn="b">
                        <a:buNone/>
                      </a:pPr>
                      <a:r>
                        <a:rPr lang="en-US" sz="1000" u="none" strike="noStrike" dirty="0">
                          <a:effectLst/>
                        </a:rPr>
                        <a:t>Grade</a:t>
                      </a:r>
                      <a:endParaRPr lang="en-US"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000" u="none" strike="noStrike" dirty="0">
                          <a:effectLst/>
                        </a:rPr>
                        <a:t>Metric</a:t>
                      </a:r>
                      <a:endParaRPr lang="en-US"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000" u="none" strike="noStrike" dirty="0">
                          <a:effectLst/>
                        </a:rPr>
                        <a:t>Approximate Proficiency</a:t>
                      </a:r>
                      <a:endParaRPr lang="en-US"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000" u="none" strike="noStrike">
                          <a:effectLst/>
                        </a:rPr>
                        <a:t>Not Proficient</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000" u="none" strike="noStrike" dirty="0">
                          <a:effectLst/>
                        </a:rPr>
                        <a:t>Source</a:t>
                      </a:r>
                      <a:endParaRPr lang="en-US" sz="10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2991420"/>
                  </a:ext>
                </a:extLst>
              </a:tr>
              <a:tr h="763865">
                <a:tc>
                  <a:txBody>
                    <a:bodyPr/>
                    <a:lstStyle/>
                    <a:p>
                      <a:pPr algn="r" fontAlgn="b">
                        <a:buNone/>
                      </a:pPr>
                      <a:r>
                        <a:rPr lang="en-US" sz="1000" u="none" strike="noStrike">
                          <a:effectLst/>
                        </a:rPr>
                        <a:t>1</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000" u="none" strike="noStrike">
                          <a:effectLst/>
                        </a:rPr>
                        <a:t>English zero readers (unable to read a word)</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en-US" sz="1000" u="none" strike="noStrike" dirty="0">
                          <a:effectLst/>
                        </a:rPr>
                        <a:t>23</a:t>
                      </a:r>
                      <a:endParaRPr lang="en-US"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en-US" sz="1000" u="none" strike="noStrike">
                          <a:effectLst/>
                        </a:rPr>
                        <a:t>77</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000" u="none" strike="noStrike">
                          <a:effectLst/>
                        </a:rPr>
                        <a:t>Tusome program impact: Grade 1 zero readers fell from 53% to 23% </a:t>
                      </a:r>
                      <a:r>
                        <a:rPr lang="en-US" sz="1000" u="sng" strike="noStrike">
                          <a:effectLst/>
                        </a:rPr>
                        <a:t>Reddit+5rti.org+5eRepository+5</a:t>
                      </a:r>
                      <a:endParaRPr lang="en-US" sz="10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5491752"/>
                  </a:ext>
                </a:extLst>
              </a:tr>
              <a:tr h="593000">
                <a:tc>
                  <a:txBody>
                    <a:bodyPr/>
                    <a:lstStyle/>
                    <a:p>
                      <a:pPr algn="r" fontAlgn="b">
                        <a:buNone/>
                      </a:pPr>
                      <a:r>
                        <a:rPr lang="en-US" sz="1000" u="none" strike="noStrike">
                          <a:effectLst/>
                        </a:rPr>
                        <a:t>2</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000" u="none" strike="noStrike" dirty="0">
                          <a:effectLst/>
                        </a:rPr>
                        <a:t>Fluent in English</a:t>
                      </a:r>
                      <a:endParaRPr lang="en-US"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en-US" sz="1000" u="none" strike="noStrike">
                          <a:effectLst/>
                        </a:rPr>
                        <a:t>15</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en-US" sz="1000" u="none" strike="noStrike">
                          <a:effectLst/>
                        </a:rPr>
                        <a:t>85</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100" u="sng" strike="noStrike">
                          <a:effectLst/>
                          <a:hlinkClick r:id="rId2"/>
                        </a:rPr>
                        <a:t>Tusome: English fluency rose from 4% to 15% rti.org</a:t>
                      </a:r>
                      <a:endParaRPr lang="en-US" sz="1100" b="0" i="0" u="sng" strike="noStrike">
                        <a:solidFill>
                          <a:srgbClr val="0563C1"/>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2908103"/>
                  </a:ext>
                </a:extLst>
              </a:tr>
              <a:tr h="512594">
                <a:tc>
                  <a:txBody>
                    <a:bodyPr/>
                    <a:lstStyle/>
                    <a:p>
                      <a:pPr algn="r" fontAlgn="b">
                        <a:buNone/>
                      </a:pPr>
                      <a:r>
                        <a:rPr lang="en-US" sz="1000" u="none" strike="noStrike">
                          <a:effectLst/>
                        </a:rPr>
                        <a:t>3</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000" u="none" strike="noStrike">
                          <a:effectLst/>
                        </a:rPr>
                        <a:t>Reading comprehension and fluency</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en-US" sz="1000" u="none" strike="noStrike" dirty="0">
                          <a:effectLst/>
                        </a:rPr>
                        <a:t>22</a:t>
                      </a:r>
                      <a:endParaRPr lang="en-US"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en-US" sz="1000" u="none" strike="noStrike">
                          <a:effectLst/>
                        </a:rPr>
                        <a:t>78</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000" u="none" strike="noStrike">
                          <a:effectLst/>
                        </a:rPr>
                        <a:t>Study in rural Narok County: comprehension ~40 wpm iier.org.au</a:t>
                      </a:r>
                      <a:endParaRPr lang="en-US" sz="10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0717923"/>
                  </a:ext>
                </a:extLst>
              </a:tr>
              <a:tr h="512594">
                <a:tc>
                  <a:txBody>
                    <a:bodyPr/>
                    <a:lstStyle/>
                    <a:p>
                      <a:pPr algn="r" fontAlgn="b">
                        <a:buNone/>
                      </a:pPr>
                      <a:r>
                        <a:rPr lang="en-US" sz="1000" u="none" strike="noStrike">
                          <a:effectLst/>
                        </a:rPr>
                        <a:t>4</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000" u="none" strike="noStrike">
                          <a:effectLst/>
                        </a:rPr>
                        <a:t>Grade 3 level English level comprehension</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en-US" sz="1000" u="none" strike="noStrike" dirty="0">
                          <a:effectLst/>
                        </a:rPr>
                        <a:t>30</a:t>
                      </a:r>
                      <a:endParaRPr lang="en-US"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en-US" sz="1000" u="none" strike="noStrike">
                          <a:effectLst/>
                        </a:rPr>
                        <a:t>70</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000" u="none" strike="noStrike">
                          <a:effectLst/>
                        </a:rPr>
                        <a:t>National CBE report: rural public proficient peopledaily.digital</a:t>
                      </a:r>
                      <a:endParaRPr lang="en-US" sz="10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2439247"/>
                  </a:ext>
                </a:extLst>
              </a:tr>
              <a:tr h="301526">
                <a:tc>
                  <a:txBody>
                    <a:bodyPr/>
                    <a:lstStyle/>
                    <a:p>
                      <a:pPr algn="r" fontAlgn="b">
                        <a:buNone/>
                      </a:pPr>
                      <a:r>
                        <a:rPr lang="en-US" sz="1000" u="none" strike="noStrike">
                          <a:effectLst/>
                        </a:rPr>
                        <a:t>5</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000" u="none" strike="noStrike">
                          <a:effectLst/>
                        </a:rPr>
                        <a:t>No direct data available</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000" u="none" strike="noStrike">
                          <a:effectLst/>
                        </a:rPr>
                        <a:t>-</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000" u="none" strike="noStrike">
                          <a:effectLst/>
                        </a:rPr>
                        <a:t>-</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000" u="none" strike="noStrike">
                          <a:effectLst/>
                        </a:rPr>
                        <a:t>-</a:t>
                      </a:r>
                      <a:endParaRPr lang="en-US" sz="10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5746622"/>
                  </a:ext>
                </a:extLst>
              </a:tr>
              <a:tr h="512594">
                <a:tc>
                  <a:txBody>
                    <a:bodyPr/>
                    <a:lstStyle/>
                    <a:p>
                      <a:pPr algn="r" fontAlgn="b">
                        <a:buNone/>
                      </a:pPr>
                      <a:r>
                        <a:rPr lang="en-US" sz="1000" u="none" strike="noStrike">
                          <a:effectLst/>
                        </a:rPr>
                        <a:t>6</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000" u="none" strike="noStrike" dirty="0">
                          <a:effectLst/>
                        </a:rPr>
                        <a:t>Grade 3 English story comprehension</a:t>
                      </a:r>
                      <a:endParaRPr lang="en-US"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en-US" sz="1000" u="none" strike="noStrike" dirty="0">
                          <a:effectLst/>
                        </a:rPr>
                        <a:t>30</a:t>
                      </a:r>
                      <a:endParaRPr lang="en-US" sz="10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en-US" sz="1000" u="none" strike="noStrike">
                          <a:effectLst/>
                        </a:rPr>
                        <a:t>70</a:t>
                      </a:r>
                      <a:endParaRPr lang="en-US" sz="10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000" u="none" strike="noStrike" dirty="0">
                          <a:effectLst/>
                        </a:rPr>
                        <a:t>FLANA results: only 30% can comprehend Grade‑3 text </a:t>
                      </a:r>
                      <a:r>
                        <a:rPr lang="en-US" sz="1000" u="none" strike="noStrike" dirty="0" err="1">
                          <a:effectLst/>
                        </a:rPr>
                        <a:t>peopledaily.digital</a:t>
                      </a:r>
                      <a:endParaRPr lang="en-US" sz="10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0218926"/>
                  </a:ext>
                </a:extLst>
              </a:tr>
            </a:tbl>
          </a:graphicData>
        </a:graphic>
      </p:graphicFrame>
    </p:spTree>
    <p:extLst>
      <p:ext uri="{BB962C8B-B14F-4D97-AF65-F5344CB8AC3E}">
        <p14:creationId xmlns:p14="http://schemas.microsoft.com/office/powerpoint/2010/main" val="4141497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285152-A077-C209-32AF-507E81606103}"/>
              </a:ext>
            </a:extLst>
          </p:cNvPr>
          <p:cNvSpPr>
            <a:spLocks noGrp="1"/>
          </p:cNvSpPr>
          <p:nvPr>
            <p:ph sz="half" idx="2"/>
          </p:nvPr>
        </p:nvSpPr>
        <p:spPr>
          <a:xfrm>
            <a:off x="3460565" y="1111170"/>
            <a:ext cx="7965460" cy="4689557"/>
          </a:xfrm>
        </p:spPr>
        <p:txBody>
          <a:bodyPr/>
          <a:lstStyle/>
          <a:p>
            <a:pPr marL="0" indent="0">
              <a:buNone/>
            </a:pPr>
            <a:r>
              <a:rPr lang="en-US" dirty="0"/>
              <a:t>Pie chart</a:t>
            </a:r>
          </a:p>
          <a:p>
            <a:pPr marL="0" indent="0">
              <a:buNone/>
            </a:pPr>
            <a:endParaRPr lang="en-US" dirty="0"/>
          </a:p>
        </p:txBody>
      </p:sp>
      <p:sp>
        <p:nvSpPr>
          <p:cNvPr id="4" name="Slide Number Placeholder 3">
            <a:extLst>
              <a:ext uri="{FF2B5EF4-FFF2-40B4-BE49-F238E27FC236}">
                <a16:creationId xmlns:a16="http://schemas.microsoft.com/office/drawing/2014/main" id="{FA2DE104-4DC0-9CC7-50D2-8EDA9E39F232}"/>
              </a:ext>
            </a:extLst>
          </p:cNvPr>
          <p:cNvSpPr>
            <a:spLocks noGrp="1"/>
          </p:cNvSpPr>
          <p:nvPr>
            <p:ph type="sldNum" sz="quarter" idx="10"/>
          </p:nvPr>
        </p:nvSpPr>
        <p:spPr/>
        <p:txBody>
          <a:bodyPr/>
          <a:lstStyle/>
          <a:p>
            <a:fld id="{48F63A3B-78C7-47BE-AE5E-E10140E04643}" type="slidenum">
              <a:rPr lang="en-US" smtClean="0"/>
              <a:pPr/>
              <a:t>6</a:t>
            </a:fld>
            <a:endParaRPr lang="en-US" dirty="0"/>
          </a:p>
        </p:txBody>
      </p:sp>
      <p:graphicFrame>
        <p:nvGraphicFramePr>
          <p:cNvPr id="5" name="Chart 4">
            <a:extLst>
              <a:ext uri="{FF2B5EF4-FFF2-40B4-BE49-F238E27FC236}">
                <a16:creationId xmlns:a16="http://schemas.microsoft.com/office/drawing/2014/main" id="{16D5DD7B-48B0-46B4-883E-78E4D6C86BF9}"/>
              </a:ext>
            </a:extLst>
          </p:cNvPr>
          <p:cNvGraphicFramePr>
            <a:graphicFrameLocks/>
          </p:cNvGraphicFramePr>
          <p:nvPr>
            <p:extLst>
              <p:ext uri="{D42A27DB-BD31-4B8C-83A1-F6EECF244321}">
                <p14:modId xmlns:p14="http://schemas.microsoft.com/office/powerpoint/2010/main" val="3868062936"/>
              </p:ext>
            </p:extLst>
          </p:nvPr>
        </p:nvGraphicFramePr>
        <p:xfrm>
          <a:off x="3647230" y="1678329"/>
          <a:ext cx="7151949" cy="48150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47905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9F993C-D71D-19A5-25B8-1C0A4157DC31}"/>
              </a:ext>
            </a:extLst>
          </p:cNvPr>
          <p:cNvSpPr>
            <a:spLocks noGrp="1"/>
          </p:cNvSpPr>
          <p:nvPr>
            <p:ph sz="half" idx="2"/>
          </p:nvPr>
        </p:nvSpPr>
        <p:spPr>
          <a:xfrm>
            <a:off x="3460565" y="928688"/>
            <a:ext cx="7965460" cy="4872039"/>
          </a:xfrm>
        </p:spPr>
        <p:txBody>
          <a:bodyPr/>
          <a:lstStyle/>
          <a:p>
            <a:pPr marL="0" indent="0">
              <a:buNone/>
            </a:pPr>
            <a:r>
              <a:rPr lang="en-US" dirty="0"/>
              <a:t>Clustered bar chart</a:t>
            </a:r>
          </a:p>
          <a:p>
            <a:pPr marL="0" indent="0">
              <a:buNone/>
            </a:pPr>
            <a:endParaRPr lang="en-US" dirty="0"/>
          </a:p>
        </p:txBody>
      </p:sp>
      <p:sp>
        <p:nvSpPr>
          <p:cNvPr id="4" name="Slide Number Placeholder 3">
            <a:extLst>
              <a:ext uri="{FF2B5EF4-FFF2-40B4-BE49-F238E27FC236}">
                <a16:creationId xmlns:a16="http://schemas.microsoft.com/office/drawing/2014/main" id="{C8C71E97-5F76-55FF-59B8-21F4E88611E3}"/>
              </a:ext>
            </a:extLst>
          </p:cNvPr>
          <p:cNvSpPr>
            <a:spLocks noGrp="1"/>
          </p:cNvSpPr>
          <p:nvPr>
            <p:ph type="sldNum" sz="quarter" idx="10"/>
          </p:nvPr>
        </p:nvSpPr>
        <p:spPr/>
        <p:txBody>
          <a:bodyPr/>
          <a:lstStyle/>
          <a:p>
            <a:fld id="{48F63A3B-78C7-47BE-AE5E-E10140E04643}" type="slidenum">
              <a:rPr lang="en-US" smtClean="0"/>
              <a:pPr/>
              <a:t>7</a:t>
            </a:fld>
            <a:endParaRPr lang="en-US" dirty="0"/>
          </a:p>
        </p:txBody>
      </p:sp>
      <p:graphicFrame>
        <p:nvGraphicFramePr>
          <p:cNvPr id="5" name="Chart 4">
            <a:extLst>
              <a:ext uri="{FF2B5EF4-FFF2-40B4-BE49-F238E27FC236}">
                <a16:creationId xmlns:a16="http://schemas.microsoft.com/office/drawing/2014/main" id="{271850DA-A01D-474F-9E39-C386F6F8A9D9}"/>
              </a:ext>
            </a:extLst>
          </p:cNvPr>
          <p:cNvGraphicFramePr>
            <a:graphicFrameLocks/>
          </p:cNvGraphicFramePr>
          <p:nvPr>
            <p:extLst>
              <p:ext uri="{D42A27DB-BD31-4B8C-83A1-F6EECF244321}">
                <p14:modId xmlns:p14="http://schemas.microsoft.com/office/powerpoint/2010/main" val="539959507"/>
              </p:ext>
            </p:extLst>
          </p:nvPr>
        </p:nvGraphicFramePr>
        <p:xfrm>
          <a:off x="2899651" y="1603920"/>
          <a:ext cx="8869680" cy="466829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17231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8" y="680243"/>
            <a:ext cx="7043617" cy="1824891"/>
          </a:xfrm>
        </p:spPr>
        <p:txBody>
          <a:bodyPr/>
          <a:lstStyle/>
          <a:p>
            <a:r>
              <a:rPr lang="en-US" dirty="0"/>
              <a:t>Recommended solution- mobile camp app</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8</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364808" y="2728178"/>
            <a:ext cx="7043618" cy="3672623"/>
          </a:xfrm>
        </p:spPr>
        <p:txBody>
          <a:bodyPr>
            <a:normAutofit fontScale="70000" lnSpcReduction="20000"/>
          </a:bodyPr>
          <a:lstStyle/>
          <a:p>
            <a:r>
              <a:rPr lang="en-US" dirty="0"/>
              <a:t>The mobile camp app is an offline enabled app that mimics summer camp abroad but is mostly focused on younger (grade 1-6) students. It has been thought of with 3 users in mind: the students, the teachers and the parents. For the students, it mostly serves as an interactive platform where students learn in a "fun" manner. The following were created with the students in mind: a study zone where there are interactive lessons and activities, a creativity camp aimed at nurturing a student’s talent especially in art, a progress and badges tab where the students can see their current achievements and badges.  On the parents’ tab, a dashboard has been created with an overview tab where a summary of a child’s progress is given. This includes the total time they were active on the app, the lessons they’ve learnt their average score, the badges earned and their strengths. On the teachers’ segment, the total number of students he/she is teaching on the app is included as well as their average progress based on the performance of the students and the activities he/she has undertaken while on the app. A class performance chart is also provided for a simple, clear and coherent way to observe the students’ progress seamlessly.</a:t>
            </a:r>
          </a:p>
          <a:p>
            <a:endParaRPr lang="en-US" dirty="0"/>
          </a:p>
        </p:txBody>
      </p:sp>
    </p:spTree>
    <p:extLst>
      <p:ext uri="{BB962C8B-B14F-4D97-AF65-F5344CB8AC3E}">
        <p14:creationId xmlns:p14="http://schemas.microsoft.com/office/powerpoint/2010/main" val="1131718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B659AC-91A0-24C9-4E7A-EF91E9BA75CB}"/>
              </a:ext>
            </a:extLst>
          </p:cNvPr>
          <p:cNvSpPr>
            <a:spLocks noGrp="1"/>
          </p:cNvSpPr>
          <p:nvPr>
            <p:ph type="sldNum" sz="quarter" idx="10"/>
          </p:nvPr>
        </p:nvSpPr>
        <p:spPr/>
        <p:txBody>
          <a:bodyPr/>
          <a:lstStyle/>
          <a:p>
            <a:fld id="{48F63A3B-78C7-47BE-AE5E-E10140E04643}" type="slidenum">
              <a:rPr lang="en-US" smtClean="0"/>
              <a:pPr/>
              <a:t>9</a:t>
            </a:fld>
            <a:endParaRPr lang="en-US" dirty="0"/>
          </a:p>
        </p:txBody>
      </p:sp>
      <p:grpSp>
        <p:nvGrpSpPr>
          <p:cNvPr id="6" name="Group 5">
            <a:extLst>
              <a:ext uri="{FF2B5EF4-FFF2-40B4-BE49-F238E27FC236}">
                <a16:creationId xmlns:a16="http://schemas.microsoft.com/office/drawing/2014/main" id="{BBA887C6-A6A1-E0A2-C379-6D96EA41533C}"/>
              </a:ext>
            </a:extLst>
          </p:cNvPr>
          <p:cNvGrpSpPr/>
          <p:nvPr/>
        </p:nvGrpSpPr>
        <p:grpSpPr>
          <a:xfrm>
            <a:off x="-1" y="0"/>
            <a:ext cx="12072395" cy="6858000"/>
            <a:chOff x="0" y="0"/>
            <a:chExt cx="8772784" cy="4838701"/>
          </a:xfrm>
        </p:grpSpPr>
        <p:pic>
          <p:nvPicPr>
            <p:cNvPr id="7" name="Picture 6">
              <a:extLst>
                <a:ext uri="{FF2B5EF4-FFF2-40B4-BE49-F238E27FC236}">
                  <a16:creationId xmlns:a16="http://schemas.microsoft.com/office/drawing/2014/main" id="{BE3316F5-190E-BCFB-F98F-5EBC45A31A92}"/>
                </a:ext>
              </a:extLst>
            </p:cNvPr>
            <p:cNvPicPr/>
            <p:nvPr/>
          </p:nvPicPr>
          <p:blipFill>
            <a:blip r:embed="rId2"/>
            <a:stretch>
              <a:fillRect/>
            </a:stretch>
          </p:blipFill>
          <p:spPr>
            <a:xfrm>
              <a:off x="0" y="0"/>
              <a:ext cx="6698279" cy="4838701"/>
            </a:xfrm>
            <a:prstGeom prst="rect">
              <a:avLst/>
            </a:prstGeom>
          </p:spPr>
        </p:pic>
        <p:sp>
          <p:nvSpPr>
            <p:cNvPr id="8" name="Shape 23">
              <a:extLst>
                <a:ext uri="{FF2B5EF4-FFF2-40B4-BE49-F238E27FC236}">
                  <a16:creationId xmlns:a16="http://schemas.microsoft.com/office/drawing/2014/main" id="{C8BC7C81-9194-C4B7-54C3-7083CBFDE47D}"/>
                </a:ext>
              </a:extLst>
            </p:cNvPr>
            <p:cNvSpPr/>
            <p:nvPr/>
          </p:nvSpPr>
          <p:spPr>
            <a:xfrm>
              <a:off x="6167175" y="2189134"/>
              <a:ext cx="2432729" cy="38941"/>
            </a:xfrm>
            <a:custGeom>
              <a:avLst/>
              <a:gdLst/>
              <a:ahLst/>
              <a:cxnLst/>
              <a:rect l="0" t="0" r="0" b="0"/>
              <a:pathLst>
                <a:path w="2432729" h="38941">
                  <a:moveTo>
                    <a:pt x="0" y="38941"/>
                  </a:moveTo>
                  <a:lnTo>
                    <a:pt x="2432729" y="0"/>
                  </a:lnTo>
                </a:path>
              </a:pathLst>
            </a:custGeom>
            <a:ln w="38100" cap="flat">
              <a:round/>
            </a:ln>
          </p:spPr>
          <p:style>
            <a:lnRef idx="1">
              <a:srgbClr val="3D85C6"/>
            </a:lnRef>
            <a:fillRef idx="0">
              <a:srgbClr val="000000">
                <a:alpha val="0"/>
              </a:srgbClr>
            </a:fillRef>
            <a:effectRef idx="0">
              <a:scrgbClr r="0" g="0" b="0"/>
            </a:effectRef>
            <a:fontRef idx="none"/>
          </p:style>
          <p:txBody>
            <a:bodyPr/>
            <a:lstStyle/>
            <a:p>
              <a:endParaRPr lang="en-US"/>
            </a:p>
          </p:txBody>
        </p:sp>
        <p:sp>
          <p:nvSpPr>
            <p:cNvPr id="9" name="Shape 24">
              <a:extLst>
                <a:ext uri="{FF2B5EF4-FFF2-40B4-BE49-F238E27FC236}">
                  <a16:creationId xmlns:a16="http://schemas.microsoft.com/office/drawing/2014/main" id="{C63D0D16-8AC9-8551-39A7-7D59294F140D}"/>
                </a:ext>
              </a:extLst>
            </p:cNvPr>
            <p:cNvSpPr/>
            <p:nvPr/>
          </p:nvSpPr>
          <p:spPr>
            <a:xfrm>
              <a:off x="8598897" y="2126211"/>
              <a:ext cx="173887" cy="125846"/>
            </a:xfrm>
            <a:custGeom>
              <a:avLst/>
              <a:gdLst/>
              <a:ahLst/>
              <a:cxnLst/>
              <a:rect l="0" t="0" r="0" b="0"/>
              <a:pathLst>
                <a:path w="173887" h="125846">
                  <a:moveTo>
                    <a:pt x="0" y="0"/>
                  </a:moveTo>
                  <a:lnTo>
                    <a:pt x="173887" y="60156"/>
                  </a:lnTo>
                  <a:lnTo>
                    <a:pt x="2015" y="125846"/>
                  </a:lnTo>
                  <a:lnTo>
                    <a:pt x="0" y="0"/>
                  </a:lnTo>
                  <a:close/>
                </a:path>
              </a:pathLst>
            </a:custGeom>
            <a:ln w="38100" cap="flat">
              <a:miter lim="127000"/>
            </a:ln>
          </p:spPr>
          <p:style>
            <a:lnRef idx="1">
              <a:srgbClr val="3D85C6"/>
            </a:lnRef>
            <a:fillRef idx="1">
              <a:srgbClr val="3D85C6"/>
            </a:fillRef>
            <a:effectRef idx="0">
              <a:scrgbClr r="0" g="0" b="0"/>
            </a:effectRef>
            <a:fontRef idx="none"/>
          </p:style>
          <p:txBody>
            <a:bodyPr/>
            <a:lstStyle/>
            <a:p>
              <a:endParaRPr lang="en-US"/>
            </a:p>
          </p:txBody>
        </p:sp>
        <p:sp>
          <p:nvSpPr>
            <p:cNvPr id="10" name="Rectangle 9">
              <a:extLst>
                <a:ext uri="{FF2B5EF4-FFF2-40B4-BE49-F238E27FC236}">
                  <a16:creationId xmlns:a16="http://schemas.microsoft.com/office/drawing/2014/main" id="{8E383B3F-D393-6D41-F5CF-EA8B4A962094}"/>
                </a:ext>
              </a:extLst>
            </p:cNvPr>
            <p:cNvSpPr/>
            <p:nvPr/>
          </p:nvSpPr>
          <p:spPr>
            <a:xfrm>
              <a:off x="7105101" y="1864611"/>
              <a:ext cx="827895" cy="339667"/>
            </a:xfrm>
            <a:prstGeom prst="rect">
              <a:avLst/>
            </a:prstGeom>
            <a:ln>
              <a:noFill/>
            </a:ln>
          </p:spPr>
          <p:txBody>
            <a:bodyPr vert="horz" lIns="0" tIns="0" rIns="0" bIns="0" rtlCol="0">
              <a:noAutofit/>
            </a:bodyPr>
            <a:lstStyle/>
            <a:p>
              <a:pPr marL="0" marR="0">
                <a:lnSpc>
                  <a:spcPct val="107000"/>
                </a:lnSpc>
                <a:spcAft>
                  <a:spcPts val="800"/>
                </a:spcAft>
                <a:buNone/>
              </a:pPr>
              <a:r>
                <a:rPr lang="en-US" sz="1800" kern="100">
                  <a:solidFill>
                    <a:srgbClr val="595959"/>
                  </a:solidFill>
                  <a:effectLst/>
                  <a:latin typeface="Arial" panose="020B0604020202020204" pitchFamily="34" charset="0"/>
                  <a:ea typeface="Arial" panose="020B0604020202020204" pitchFamily="34" charset="0"/>
                </a:rPr>
                <a:t>Login </a:t>
              </a:r>
            </a:p>
          </p:txBody>
        </p:sp>
      </p:grpSp>
    </p:spTree>
    <p:extLst>
      <p:ext uri="{BB962C8B-B14F-4D97-AF65-F5344CB8AC3E}">
        <p14:creationId xmlns:p14="http://schemas.microsoft.com/office/powerpoint/2010/main" val="359058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15CC497-D9CD-2BE4-9120-0D7255ADAD79}"/>
              </a:ext>
            </a:extLst>
          </p:cNvPr>
          <p:cNvSpPr>
            <a:spLocks noGrp="1"/>
          </p:cNvSpPr>
          <p:nvPr>
            <p:ph type="sldNum" sz="quarter" idx="10"/>
          </p:nvPr>
        </p:nvSpPr>
        <p:spPr/>
        <p:txBody>
          <a:bodyPr/>
          <a:lstStyle/>
          <a:p>
            <a:fld id="{48F63A3B-78C7-47BE-AE5E-E10140E04643}" type="slidenum">
              <a:rPr lang="en-US" smtClean="0"/>
              <a:pPr/>
              <a:t>10</a:t>
            </a:fld>
            <a:endParaRPr lang="en-US" dirty="0"/>
          </a:p>
        </p:txBody>
      </p:sp>
      <p:sp>
        <p:nvSpPr>
          <p:cNvPr id="6" name="Shape 812">
            <a:extLst>
              <a:ext uri="{FF2B5EF4-FFF2-40B4-BE49-F238E27FC236}">
                <a16:creationId xmlns:a16="http://schemas.microsoft.com/office/drawing/2014/main" id="{1634C3D3-5BC6-B689-A839-B4A8E719956A}"/>
              </a:ext>
            </a:extLst>
          </p:cNvPr>
          <p:cNvSpPr/>
          <p:nvPr/>
        </p:nvSpPr>
        <p:spPr>
          <a:xfrm>
            <a:off x="0" y="0"/>
            <a:ext cx="12192000" cy="6858000"/>
          </a:xfrm>
          <a:custGeom>
            <a:avLst/>
            <a:gdLst/>
            <a:ahLst/>
            <a:cxnLst/>
            <a:rect l="0" t="0" r="0" b="0"/>
            <a:pathLst>
              <a:path w="9144000" h="5143500">
                <a:moveTo>
                  <a:pt x="0" y="0"/>
                </a:moveTo>
                <a:lnTo>
                  <a:pt x="9144000" y="0"/>
                </a:lnTo>
                <a:lnTo>
                  <a:pt x="9144000" y="5143500"/>
                </a:lnTo>
                <a:lnTo>
                  <a:pt x="0" y="5143500"/>
                </a:lnTo>
                <a:lnTo>
                  <a:pt x="0" y="0"/>
                </a:lnTo>
              </a:path>
            </a:pathLst>
          </a:custGeom>
          <a:ln w="0" cap="flat">
            <a:miter lim="127000"/>
          </a:ln>
        </p:spPr>
        <p:style>
          <a:lnRef idx="0">
            <a:srgbClr val="000000">
              <a:alpha val="0"/>
            </a:srgbClr>
          </a:lnRef>
          <a:fillRef idx="1">
            <a:srgbClr val="4285F4"/>
          </a:fillRef>
          <a:effectRef idx="0">
            <a:scrgbClr r="0" g="0" b="0"/>
          </a:effectRef>
          <a:fontRef idx="none"/>
        </p:style>
        <p:txBody>
          <a:bodyPr/>
          <a:lstStyle/>
          <a:p>
            <a:endParaRPr lang="en-US"/>
          </a:p>
        </p:txBody>
      </p:sp>
      <p:pic>
        <p:nvPicPr>
          <p:cNvPr id="7" name="Picture 6">
            <a:extLst>
              <a:ext uri="{FF2B5EF4-FFF2-40B4-BE49-F238E27FC236}">
                <a16:creationId xmlns:a16="http://schemas.microsoft.com/office/drawing/2014/main" id="{4264D307-95AD-3912-5B21-6C4472209141}"/>
              </a:ext>
            </a:extLst>
          </p:cNvPr>
          <p:cNvPicPr/>
          <p:nvPr/>
        </p:nvPicPr>
        <p:blipFill>
          <a:blip r:embed="rId2"/>
          <a:stretch>
            <a:fillRect/>
          </a:stretch>
        </p:blipFill>
        <p:spPr>
          <a:xfrm>
            <a:off x="972274" y="277793"/>
            <a:ext cx="10453753" cy="6319778"/>
          </a:xfrm>
          <a:prstGeom prst="rect">
            <a:avLst/>
          </a:prstGeom>
        </p:spPr>
      </p:pic>
    </p:spTree>
    <p:extLst>
      <p:ext uri="{BB962C8B-B14F-4D97-AF65-F5344CB8AC3E}">
        <p14:creationId xmlns:p14="http://schemas.microsoft.com/office/powerpoint/2010/main" val="767899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7BC22-3CB7-397C-0E23-583B48F4D61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D958718-B39E-8950-E469-2030EED0BE47}"/>
              </a:ext>
            </a:extLst>
          </p:cNvPr>
          <p:cNvSpPr>
            <a:spLocks noGrp="1"/>
          </p:cNvSpPr>
          <p:nvPr>
            <p:ph type="sldNum" sz="quarter" idx="10"/>
          </p:nvPr>
        </p:nvSpPr>
        <p:spPr/>
        <p:txBody>
          <a:bodyPr/>
          <a:lstStyle/>
          <a:p>
            <a:fld id="{48F63A3B-78C7-47BE-AE5E-E10140E04643}" type="slidenum">
              <a:rPr lang="en-US" smtClean="0"/>
              <a:pPr/>
              <a:t>11</a:t>
            </a:fld>
            <a:endParaRPr lang="en-US" dirty="0"/>
          </a:p>
        </p:txBody>
      </p:sp>
      <p:grpSp>
        <p:nvGrpSpPr>
          <p:cNvPr id="2" name="Group 1">
            <a:extLst>
              <a:ext uri="{FF2B5EF4-FFF2-40B4-BE49-F238E27FC236}">
                <a16:creationId xmlns:a16="http://schemas.microsoft.com/office/drawing/2014/main" id="{94ECC368-BBF5-8074-CA00-8148331EE8F0}"/>
              </a:ext>
            </a:extLst>
          </p:cNvPr>
          <p:cNvGrpSpPr/>
          <p:nvPr/>
        </p:nvGrpSpPr>
        <p:grpSpPr>
          <a:xfrm>
            <a:off x="0" y="0"/>
            <a:ext cx="11991371" cy="6858000"/>
            <a:chOff x="0" y="0"/>
            <a:chExt cx="7851809" cy="5143500"/>
          </a:xfrm>
        </p:grpSpPr>
        <p:pic>
          <p:nvPicPr>
            <p:cNvPr id="4" name="Picture 3">
              <a:extLst>
                <a:ext uri="{FF2B5EF4-FFF2-40B4-BE49-F238E27FC236}">
                  <a16:creationId xmlns:a16="http://schemas.microsoft.com/office/drawing/2014/main" id="{F77189AF-79FB-947A-E020-F672CA042B5B}"/>
                </a:ext>
              </a:extLst>
            </p:cNvPr>
            <p:cNvPicPr/>
            <p:nvPr/>
          </p:nvPicPr>
          <p:blipFill>
            <a:blip r:embed="rId2"/>
            <a:stretch>
              <a:fillRect/>
            </a:stretch>
          </p:blipFill>
          <p:spPr>
            <a:xfrm>
              <a:off x="0" y="0"/>
              <a:ext cx="5660633" cy="5143500"/>
            </a:xfrm>
            <a:prstGeom prst="rect">
              <a:avLst/>
            </a:prstGeom>
          </p:spPr>
        </p:pic>
        <p:sp>
          <p:nvSpPr>
            <p:cNvPr id="5" name="Shape 43">
              <a:extLst>
                <a:ext uri="{FF2B5EF4-FFF2-40B4-BE49-F238E27FC236}">
                  <a16:creationId xmlns:a16="http://schemas.microsoft.com/office/drawing/2014/main" id="{A7DD5000-C7E3-B9D7-06AA-1C76F0CF54F6}"/>
                </a:ext>
              </a:extLst>
            </p:cNvPr>
            <p:cNvSpPr/>
            <p:nvPr/>
          </p:nvSpPr>
          <p:spPr>
            <a:xfrm>
              <a:off x="2324945" y="1402800"/>
              <a:ext cx="4447217" cy="818954"/>
            </a:xfrm>
            <a:custGeom>
              <a:avLst/>
              <a:gdLst/>
              <a:ahLst/>
              <a:cxnLst/>
              <a:rect l="0" t="0" r="0" b="0"/>
              <a:pathLst>
                <a:path w="4447217" h="818954">
                  <a:moveTo>
                    <a:pt x="0" y="0"/>
                  </a:moveTo>
                  <a:cubicBezTo>
                    <a:pt x="1168950" y="0"/>
                    <a:pt x="1753425" y="205425"/>
                    <a:pt x="2337900" y="410850"/>
                  </a:cubicBezTo>
                  <a:cubicBezTo>
                    <a:pt x="2630138" y="513562"/>
                    <a:pt x="2922375" y="616275"/>
                    <a:pt x="3287672" y="693309"/>
                  </a:cubicBezTo>
                  <a:cubicBezTo>
                    <a:pt x="3470320" y="731826"/>
                    <a:pt x="3671234" y="763924"/>
                    <a:pt x="3899544" y="786393"/>
                  </a:cubicBezTo>
                  <a:cubicBezTo>
                    <a:pt x="4013699" y="797627"/>
                    <a:pt x="4134704" y="806454"/>
                    <a:pt x="4263699" y="812472"/>
                  </a:cubicBezTo>
                  <a:cubicBezTo>
                    <a:pt x="4295948" y="813977"/>
                    <a:pt x="4328697" y="815305"/>
                    <a:pt x="4361963" y="816453"/>
                  </a:cubicBezTo>
                  <a:cubicBezTo>
                    <a:pt x="4378595" y="817026"/>
                    <a:pt x="4395357" y="817554"/>
                    <a:pt x="4412251" y="818037"/>
                  </a:cubicBezTo>
                  <a:cubicBezTo>
                    <a:pt x="4420697" y="818278"/>
                    <a:pt x="4429178" y="818507"/>
                    <a:pt x="4437690" y="818725"/>
                  </a:cubicBezTo>
                  <a:lnTo>
                    <a:pt x="4447217" y="818954"/>
                  </a:lnTo>
                </a:path>
              </a:pathLst>
            </a:custGeom>
            <a:ln w="38100" cap="flat">
              <a:round/>
            </a:ln>
          </p:spPr>
          <p:style>
            <a:lnRef idx="1">
              <a:srgbClr val="3D85C6"/>
            </a:lnRef>
            <a:fillRef idx="0">
              <a:srgbClr val="000000">
                <a:alpha val="0"/>
              </a:srgbClr>
            </a:fillRef>
            <a:effectRef idx="0">
              <a:scrgbClr r="0" g="0" b="0"/>
            </a:effectRef>
            <a:fontRef idx="none"/>
          </p:style>
          <p:txBody>
            <a:bodyPr/>
            <a:lstStyle/>
            <a:p>
              <a:endParaRPr lang="en-US"/>
            </a:p>
          </p:txBody>
        </p:sp>
        <p:sp>
          <p:nvSpPr>
            <p:cNvPr id="6" name="Shape 44">
              <a:extLst>
                <a:ext uri="{FF2B5EF4-FFF2-40B4-BE49-F238E27FC236}">
                  <a16:creationId xmlns:a16="http://schemas.microsoft.com/office/drawing/2014/main" id="{27FC701D-6826-CC69-3B51-8AEC61E7C38B}"/>
                </a:ext>
              </a:extLst>
            </p:cNvPr>
            <p:cNvSpPr/>
            <p:nvPr/>
          </p:nvSpPr>
          <p:spPr>
            <a:xfrm>
              <a:off x="6771406" y="2158828"/>
              <a:ext cx="173644" cy="125853"/>
            </a:xfrm>
            <a:custGeom>
              <a:avLst/>
              <a:gdLst/>
              <a:ahLst/>
              <a:cxnLst/>
              <a:rect l="0" t="0" r="0" b="0"/>
              <a:pathLst>
                <a:path w="173644" h="125853">
                  <a:moveTo>
                    <a:pt x="1512" y="0"/>
                  </a:moveTo>
                  <a:lnTo>
                    <a:pt x="173644" y="65003"/>
                  </a:lnTo>
                  <a:lnTo>
                    <a:pt x="0" y="125853"/>
                  </a:lnTo>
                  <a:lnTo>
                    <a:pt x="1512" y="0"/>
                  </a:lnTo>
                  <a:close/>
                </a:path>
              </a:pathLst>
            </a:custGeom>
            <a:ln w="38100" cap="flat">
              <a:miter lim="127000"/>
            </a:ln>
          </p:spPr>
          <p:style>
            <a:lnRef idx="1">
              <a:srgbClr val="3D85C6"/>
            </a:lnRef>
            <a:fillRef idx="1">
              <a:srgbClr val="3D85C6"/>
            </a:fillRef>
            <a:effectRef idx="0">
              <a:scrgbClr r="0" g="0" b="0"/>
            </a:effectRef>
            <a:fontRef idx="none"/>
          </p:style>
          <p:txBody>
            <a:bodyPr/>
            <a:lstStyle/>
            <a:p>
              <a:endParaRPr lang="en-US"/>
            </a:p>
          </p:txBody>
        </p:sp>
        <p:sp>
          <p:nvSpPr>
            <p:cNvPr id="7" name="Rectangle 6">
              <a:extLst>
                <a:ext uri="{FF2B5EF4-FFF2-40B4-BE49-F238E27FC236}">
                  <a16:creationId xmlns:a16="http://schemas.microsoft.com/office/drawing/2014/main" id="{74E5D13F-9775-AC48-DF7D-C076B5BF49A0}"/>
                </a:ext>
              </a:extLst>
            </p:cNvPr>
            <p:cNvSpPr/>
            <p:nvPr/>
          </p:nvSpPr>
          <p:spPr>
            <a:xfrm>
              <a:off x="5746345" y="1681036"/>
              <a:ext cx="2105464" cy="339667"/>
            </a:xfrm>
            <a:prstGeom prst="rect">
              <a:avLst/>
            </a:prstGeom>
            <a:ln>
              <a:noFill/>
            </a:ln>
          </p:spPr>
          <p:txBody>
            <a:bodyPr vert="horz" lIns="0" tIns="0" rIns="0" bIns="0" rtlCol="0">
              <a:noAutofit/>
            </a:bodyPr>
            <a:lstStyle/>
            <a:p>
              <a:pPr marL="0" marR="0">
                <a:lnSpc>
                  <a:spcPct val="107000"/>
                </a:lnSpc>
                <a:spcAft>
                  <a:spcPts val="800"/>
                </a:spcAft>
                <a:buNone/>
              </a:pPr>
              <a:r>
                <a:rPr lang="en-US" sz="1800" kern="100">
                  <a:solidFill>
                    <a:srgbClr val="595959"/>
                  </a:solidFill>
                  <a:effectLst/>
                  <a:latin typeface="Arial" panose="020B0604020202020204" pitchFamily="34" charset="0"/>
                  <a:ea typeface="Arial" panose="020B0604020202020204" pitchFamily="34" charset="0"/>
                </a:rPr>
                <a:t>Levels &amp; Tasks </a:t>
              </a:r>
            </a:p>
          </p:txBody>
        </p:sp>
      </p:grpSp>
    </p:spTree>
    <p:extLst>
      <p:ext uri="{BB962C8B-B14F-4D97-AF65-F5344CB8AC3E}">
        <p14:creationId xmlns:p14="http://schemas.microsoft.com/office/powerpoint/2010/main" val="4235517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B7D95-AFCE-6A1F-21C5-00D60609C55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AF805B1-9223-D48A-52B1-CAEB950E85D7}"/>
              </a:ext>
            </a:extLst>
          </p:cNvPr>
          <p:cNvSpPr>
            <a:spLocks noGrp="1"/>
          </p:cNvSpPr>
          <p:nvPr>
            <p:ph type="sldNum" sz="quarter" idx="10"/>
          </p:nvPr>
        </p:nvSpPr>
        <p:spPr/>
        <p:txBody>
          <a:bodyPr/>
          <a:lstStyle/>
          <a:p>
            <a:fld id="{48F63A3B-78C7-47BE-AE5E-E10140E04643}" type="slidenum">
              <a:rPr lang="en-US" smtClean="0"/>
              <a:pPr/>
              <a:t>12</a:t>
            </a:fld>
            <a:endParaRPr lang="en-US" dirty="0"/>
          </a:p>
        </p:txBody>
      </p:sp>
      <p:grpSp>
        <p:nvGrpSpPr>
          <p:cNvPr id="2" name="Group 1">
            <a:extLst>
              <a:ext uri="{FF2B5EF4-FFF2-40B4-BE49-F238E27FC236}">
                <a16:creationId xmlns:a16="http://schemas.microsoft.com/office/drawing/2014/main" id="{BE2E4E63-4E94-19C6-A30D-43EACD9921EF}"/>
              </a:ext>
            </a:extLst>
          </p:cNvPr>
          <p:cNvGrpSpPr/>
          <p:nvPr/>
        </p:nvGrpSpPr>
        <p:grpSpPr>
          <a:xfrm>
            <a:off x="1" y="0"/>
            <a:ext cx="12191999" cy="6858000"/>
            <a:chOff x="0" y="0"/>
            <a:chExt cx="6811598" cy="4991101"/>
          </a:xfrm>
        </p:grpSpPr>
        <p:sp>
          <p:nvSpPr>
            <p:cNvPr id="4" name="Rectangle 3">
              <a:extLst>
                <a:ext uri="{FF2B5EF4-FFF2-40B4-BE49-F238E27FC236}">
                  <a16:creationId xmlns:a16="http://schemas.microsoft.com/office/drawing/2014/main" id="{9D7A1575-AFB9-9B98-6234-8378BBDFA1D5}"/>
                </a:ext>
              </a:extLst>
            </p:cNvPr>
            <p:cNvSpPr/>
            <p:nvPr/>
          </p:nvSpPr>
          <p:spPr>
            <a:xfrm>
              <a:off x="6136026" y="1467335"/>
              <a:ext cx="675572" cy="339667"/>
            </a:xfrm>
            <a:prstGeom prst="rect">
              <a:avLst/>
            </a:prstGeom>
            <a:ln>
              <a:noFill/>
            </a:ln>
          </p:spPr>
          <p:txBody>
            <a:bodyPr vert="horz" lIns="0" tIns="0" rIns="0" bIns="0" rtlCol="0">
              <a:noAutofit/>
            </a:bodyPr>
            <a:lstStyle/>
            <a:p>
              <a:pPr marL="0" marR="0">
                <a:lnSpc>
                  <a:spcPct val="107000"/>
                </a:lnSpc>
                <a:spcAft>
                  <a:spcPts val="800"/>
                </a:spcAft>
                <a:buNone/>
              </a:pPr>
              <a:r>
                <a:rPr lang="en-US" sz="1800" kern="100">
                  <a:solidFill>
                    <a:srgbClr val="595959"/>
                  </a:solidFill>
                  <a:effectLst/>
                  <a:latin typeface="Arial" panose="020B0604020202020204" pitchFamily="34" charset="0"/>
                  <a:ea typeface="Arial" panose="020B0604020202020204" pitchFamily="34" charset="0"/>
                </a:rPr>
                <a:t>Back</a:t>
              </a:r>
            </a:p>
          </p:txBody>
        </p:sp>
        <p:pic>
          <p:nvPicPr>
            <p:cNvPr id="5" name="Picture 4">
              <a:extLst>
                <a:ext uri="{FF2B5EF4-FFF2-40B4-BE49-F238E27FC236}">
                  <a16:creationId xmlns:a16="http://schemas.microsoft.com/office/drawing/2014/main" id="{65933F71-2CCD-223D-8BF1-FCBF38FCF925}"/>
                </a:ext>
              </a:extLst>
            </p:cNvPr>
            <p:cNvPicPr/>
            <p:nvPr/>
          </p:nvPicPr>
          <p:blipFill>
            <a:blip r:embed="rId2"/>
            <a:stretch>
              <a:fillRect/>
            </a:stretch>
          </p:blipFill>
          <p:spPr>
            <a:xfrm>
              <a:off x="0" y="0"/>
              <a:ext cx="3969715" cy="4991101"/>
            </a:xfrm>
            <a:prstGeom prst="rect">
              <a:avLst/>
            </a:prstGeom>
          </p:spPr>
        </p:pic>
        <p:sp>
          <p:nvSpPr>
            <p:cNvPr id="6" name="Shape 58">
              <a:extLst>
                <a:ext uri="{FF2B5EF4-FFF2-40B4-BE49-F238E27FC236}">
                  <a16:creationId xmlns:a16="http://schemas.microsoft.com/office/drawing/2014/main" id="{5EFC1BDB-4289-D3E8-983B-139412C44273}"/>
                </a:ext>
              </a:extLst>
            </p:cNvPr>
            <p:cNvSpPr/>
            <p:nvPr/>
          </p:nvSpPr>
          <p:spPr>
            <a:xfrm>
              <a:off x="301025" y="490575"/>
              <a:ext cx="5255116" cy="1102530"/>
            </a:xfrm>
            <a:custGeom>
              <a:avLst/>
              <a:gdLst/>
              <a:ahLst/>
              <a:cxnLst/>
              <a:rect l="0" t="0" r="0" b="0"/>
              <a:pathLst>
                <a:path w="5255116" h="1102530">
                  <a:moveTo>
                    <a:pt x="0" y="0"/>
                  </a:moveTo>
                  <a:cubicBezTo>
                    <a:pt x="1370925" y="0"/>
                    <a:pt x="2056388" y="276300"/>
                    <a:pt x="2741850" y="552600"/>
                  </a:cubicBezTo>
                  <a:cubicBezTo>
                    <a:pt x="3084581" y="690750"/>
                    <a:pt x="3427313" y="828900"/>
                    <a:pt x="3855727" y="932512"/>
                  </a:cubicBezTo>
                  <a:cubicBezTo>
                    <a:pt x="4069934" y="984319"/>
                    <a:pt x="4305561" y="1027491"/>
                    <a:pt x="4573320" y="1057711"/>
                  </a:cubicBezTo>
                  <a:cubicBezTo>
                    <a:pt x="4707200" y="1072821"/>
                    <a:pt x="4849112" y="1084693"/>
                    <a:pt x="5000396" y="1092788"/>
                  </a:cubicBezTo>
                  <a:cubicBezTo>
                    <a:pt x="5076038" y="1096836"/>
                    <a:pt x="5154022" y="1099938"/>
                    <a:pt x="5234518" y="1102030"/>
                  </a:cubicBezTo>
                  <a:lnTo>
                    <a:pt x="5255116" y="1102530"/>
                  </a:lnTo>
                </a:path>
              </a:pathLst>
            </a:custGeom>
            <a:ln w="38100" cap="flat">
              <a:round/>
            </a:ln>
          </p:spPr>
          <p:style>
            <a:lnRef idx="1">
              <a:srgbClr val="3D85C6"/>
            </a:lnRef>
            <a:fillRef idx="0">
              <a:srgbClr val="000000">
                <a:alpha val="0"/>
              </a:srgbClr>
            </a:fillRef>
            <a:effectRef idx="0">
              <a:scrgbClr r="0" g="0" b="0"/>
            </a:effectRef>
            <a:fontRef idx="none"/>
          </p:style>
          <p:txBody>
            <a:bodyPr/>
            <a:lstStyle/>
            <a:p>
              <a:endParaRPr lang="en-US"/>
            </a:p>
          </p:txBody>
        </p:sp>
        <p:sp>
          <p:nvSpPr>
            <p:cNvPr id="7" name="Shape 59">
              <a:extLst>
                <a:ext uri="{FF2B5EF4-FFF2-40B4-BE49-F238E27FC236}">
                  <a16:creationId xmlns:a16="http://schemas.microsoft.com/office/drawing/2014/main" id="{5D3CD942-A681-5C99-BCD7-461198A54E01}"/>
                </a:ext>
              </a:extLst>
            </p:cNvPr>
            <p:cNvSpPr/>
            <p:nvPr/>
          </p:nvSpPr>
          <p:spPr>
            <a:xfrm>
              <a:off x="5555406" y="1530179"/>
              <a:ext cx="173625" cy="125854"/>
            </a:xfrm>
            <a:custGeom>
              <a:avLst/>
              <a:gdLst/>
              <a:ahLst/>
              <a:cxnLst/>
              <a:rect l="0" t="0" r="0" b="0"/>
              <a:pathLst>
                <a:path w="173625" h="125854">
                  <a:moveTo>
                    <a:pt x="1470" y="0"/>
                  </a:moveTo>
                  <a:lnTo>
                    <a:pt x="173625" y="64946"/>
                  </a:lnTo>
                  <a:lnTo>
                    <a:pt x="0" y="125854"/>
                  </a:lnTo>
                  <a:lnTo>
                    <a:pt x="1470" y="0"/>
                  </a:lnTo>
                  <a:close/>
                </a:path>
              </a:pathLst>
            </a:custGeom>
            <a:ln w="38100" cap="flat">
              <a:miter lim="127000"/>
            </a:ln>
          </p:spPr>
          <p:style>
            <a:lnRef idx="1">
              <a:srgbClr val="3D85C6"/>
            </a:lnRef>
            <a:fillRef idx="1">
              <a:srgbClr val="3D85C6"/>
            </a:fillRef>
            <a:effectRef idx="0">
              <a:scrgbClr r="0" g="0" b="0"/>
            </a:effectRef>
            <a:fontRef idx="none"/>
          </p:style>
          <p:txBody>
            <a:bodyPr/>
            <a:lstStyle/>
            <a:p>
              <a:endParaRPr lang="en-US"/>
            </a:p>
          </p:txBody>
        </p:sp>
      </p:grpSp>
    </p:spTree>
    <p:extLst>
      <p:ext uri="{BB962C8B-B14F-4D97-AF65-F5344CB8AC3E}">
        <p14:creationId xmlns:p14="http://schemas.microsoft.com/office/powerpoint/2010/main" val="347830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BED4A-856B-7086-3D72-7AD7E558A90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F2B8EE1-9B7C-EEFA-A3B3-EC1BB1D6F8C3}"/>
              </a:ext>
            </a:extLst>
          </p:cNvPr>
          <p:cNvSpPr>
            <a:spLocks noGrp="1"/>
          </p:cNvSpPr>
          <p:nvPr>
            <p:ph type="sldNum" sz="quarter" idx="10"/>
          </p:nvPr>
        </p:nvSpPr>
        <p:spPr/>
        <p:txBody>
          <a:bodyPr/>
          <a:lstStyle/>
          <a:p>
            <a:fld id="{48F63A3B-78C7-47BE-AE5E-E10140E04643}" type="slidenum">
              <a:rPr lang="en-US" smtClean="0"/>
              <a:pPr/>
              <a:t>13</a:t>
            </a:fld>
            <a:endParaRPr lang="en-US" dirty="0"/>
          </a:p>
        </p:txBody>
      </p:sp>
      <p:pic>
        <p:nvPicPr>
          <p:cNvPr id="2" name="Picture 1">
            <a:extLst>
              <a:ext uri="{FF2B5EF4-FFF2-40B4-BE49-F238E27FC236}">
                <a16:creationId xmlns:a16="http://schemas.microsoft.com/office/drawing/2014/main" id="{C3B4FAA6-818F-11CE-C8F4-8AA4FF525154}"/>
              </a:ext>
            </a:extLst>
          </p:cNvPr>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64685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9BF0-2F85-5EE5-7A7B-315C508F5B8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50DF9CB-7060-1B59-B87D-FF25D22752A7}"/>
              </a:ext>
            </a:extLst>
          </p:cNvPr>
          <p:cNvSpPr>
            <a:spLocks noGrp="1"/>
          </p:cNvSpPr>
          <p:nvPr>
            <p:ph type="sldNum" sz="quarter" idx="10"/>
          </p:nvPr>
        </p:nvSpPr>
        <p:spPr/>
        <p:txBody>
          <a:bodyPr/>
          <a:lstStyle/>
          <a:p>
            <a:fld id="{48F63A3B-78C7-47BE-AE5E-E10140E04643}" type="slidenum">
              <a:rPr lang="en-US" smtClean="0"/>
              <a:pPr/>
              <a:t>14</a:t>
            </a:fld>
            <a:endParaRPr lang="en-US" dirty="0"/>
          </a:p>
        </p:txBody>
      </p:sp>
      <p:grpSp>
        <p:nvGrpSpPr>
          <p:cNvPr id="2" name="Group 1">
            <a:extLst>
              <a:ext uri="{FF2B5EF4-FFF2-40B4-BE49-F238E27FC236}">
                <a16:creationId xmlns:a16="http://schemas.microsoft.com/office/drawing/2014/main" id="{F4E9CBFA-1C4B-FEC0-CA2D-91367E87AC3A}"/>
              </a:ext>
            </a:extLst>
          </p:cNvPr>
          <p:cNvGrpSpPr/>
          <p:nvPr/>
        </p:nvGrpSpPr>
        <p:grpSpPr>
          <a:xfrm>
            <a:off x="0" y="0"/>
            <a:ext cx="12107119" cy="6858000"/>
            <a:chOff x="-3034" y="-1989"/>
            <a:chExt cx="6716994" cy="5068825"/>
          </a:xfrm>
        </p:grpSpPr>
        <p:sp>
          <p:nvSpPr>
            <p:cNvPr id="4" name="Rectangle 3">
              <a:extLst>
                <a:ext uri="{FF2B5EF4-FFF2-40B4-BE49-F238E27FC236}">
                  <a16:creationId xmlns:a16="http://schemas.microsoft.com/office/drawing/2014/main" id="{98566981-499F-E9B9-DE1B-2BA4F201890B}"/>
                </a:ext>
              </a:extLst>
            </p:cNvPr>
            <p:cNvSpPr/>
            <p:nvPr/>
          </p:nvSpPr>
          <p:spPr>
            <a:xfrm>
              <a:off x="6038388" y="1381436"/>
              <a:ext cx="675572" cy="339667"/>
            </a:xfrm>
            <a:prstGeom prst="rect">
              <a:avLst/>
            </a:prstGeom>
            <a:ln>
              <a:noFill/>
            </a:ln>
          </p:spPr>
          <p:txBody>
            <a:bodyPr vert="horz" lIns="0" tIns="0" rIns="0" bIns="0" rtlCol="0">
              <a:noAutofit/>
            </a:bodyPr>
            <a:lstStyle/>
            <a:p>
              <a:pPr marL="0" marR="0">
                <a:lnSpc>
                  <a:spcPct val="107000"/>
                </a:lnSpc>
                <a:spcAft>
                  <a:spcPts val="800"/>
                </a:spcAft>
                <a:buNone/>
              </a:pPr>
              <a:r>
                <a:rPr lang="en-US" sz="1800" kern="100">
                  <a:solidFill>
                    <a:srgbClr val="595959"/>
                  </a:solidFill>
                  <a:effectLst/>
                  <a:latin typeface="Arial" panose="020B0604020202020204" pitchFamily="34" charset="0"/>
                  <a:ea typeface="Arial" panose="020B0604020202020204" pitchFamily="34" charset="0"/>
                </a:rPr>
                <a:t>Back</a:t>
              </a:r>
            </a:p>
          </p:txBody>
        </p:sp>
        <p:pic>
          <p:nvPicPr>
            <p:cNvPr id="5" name="Picture 4">
              <a:extLst>
                <a:ext uri="{FF2B5EF4-FFF2-40B4-BE49-F238E27FC236}">
                  <a16:creationId xmlns:a16="http://schemas.microsoft.com/office/drawing/2014/main" id="{BBF8CDDC-2327-3370-E9F8-818D7CFFAF7B}"/>
                </a:ext>
              </a:extLst>
            </p:cNvPr>
            <p:cNvPicPr/>
            <p:nvPr/>
          </p:nvPicPr>
          <p:blipFill>
            <a:blip r:embed="rId2"/>
            <a:stretch>
              <a:fillRect/>
            </a:stretch>
          </p:blipFill>
          <p:spPr>
            <a:xfrm>
              <a:off x="-3034" y="-1989"/>
              <a:ext cx="4093464" cy="5068825"/>
            </a:xfrm>
            <a:prstGeom prst="rect">
              <a:avLst/>
            </a:prstGeom>
          </p:spPr>
        </p:pic>
        <p:sp>
          <p:nvSpPr>
            <p:cNvPr id="6" name="Shape 84">
              <a:extLst>
                <a:ext uri="{FF2B5EF4-FFF2-40B4-BE49-F238E27FC236}">
                  <a16:creationId xmlns:a16="http://schemas.microsoft.com/office/drawing/2014/main" id="{CA08B0F0-4E10-8028-BE69-98959920AC0F}"/>
                </a:ext>
              </a:extLst>
            </p:cNvPr>
            <p:cNvSpPr/>
            <p:nvPr/>
          </p:nvSpPr>
          <p:spPr>
            <a:xfrm>
              <a:off x="4184988" y="574675"/>
              <a:ext cx="1926386" cy="1270285"/>
            </a:xfrm>
            <a:custGeom>
              <a:avLst/>
              <a:gdLst/>
              <a:ahLst/>
              <a:cxnLst/>
              <a:rect l="0" t="0" r="0" b="0"/>
              <a:pathLst>
                <a:path w="1926386" h="1270285">
                  <a:moveTo>
                    <a:pt x="0" y="0"/>
                  </a:moveTo>
                  <a:cubicBezTo>
                    <a:pt x="538500" y="0"/>
                    <a:pt x="807750" y="322875"/>
                    <a:pt x="1077000" y="645750"/>
                  </a:cubicBezTo>
                  <a:cubicBezTo>
                    <a:pt x="1211625" y="807188"/>
                    <a:pt x="1346250" y="968625"/>
                    <a:pt x="1514531" y="1089703"/>
                  </a:cubicBezTo>
                  <a:cubicBezTo>
                    <a:pt x="1598671" y="1150242"/>
                    <a:pt x="1691226" y="1200692"/>
                    <a:pt x="1796402" y="1236006"/>
                  </a:cubicBezTo>
                  <a:cubicBezTo>
                    <a:pt x="1822696" y="1244834"/>
                    <a:pt x="1849779" y="1252717"/>
                    <a:pt x="1877716" y="1259575"/>
                  </a:cubicBezTo>
                  <a:cubicBezTo>
                    <a:pt x="1891685" y="1263004"/>
                    <a:pt x="1905867" y="1266177"/>
                    <a:pt x="1920271" y="1269084"/>
                  </a:cubicBezTo>
                  <a:lnTo>
                    <a:pt x="1926386" y="1270285"/>
                  </a:lnTo>
                </a:path>
              </a:pathLst>
            </a:custGeom>
            <a:ln w="38100" cap="flat">
              <a:round/>
            </a:ln>
          </p:spPr>
          <p:style>
            <a:lnRef idx="1">
              <a:srgbClr val="3D85C6"/>
            </a:lnRef>
            <a:fillRef idx="0">
              <a:srgbClr val="000000">
                <a:alpha val="0"/>
              </a:srgbClr>
            </a:fillRef>
            <a:effectRef idx="0">
              <a:scrgbClr r="0" g="0" b="0"/>
            </a:effectRef>
            <a:fontRef idx="none"/>
          </p:style>
          <p:txBody>
            <a:bodyPr/>
            <a:lstStyle/>
            <a:p>
              <a:endParaRPr lang="en-US"/>
            </a:p>
          </p:txBody>
        </p:sp>
        <p:sp>
          <p:nvSpPr>
            <p:cNvPr id="7" name="Shape 85">
              <a:extLst>
                <a:ext uri="{FF2B5EF4-FFF2-40B4-BE49-F238E27FC236}">
                  <a16:creationId xmlns:a16="http://schemas.microsoft.com/office/drawing/2014/main" id="{C98179A1-C9D2-21F9-A4C0-3DD2B2FAC75B}"/>
                </a:ext>
              </a:extLst>
            </p:cNvPr>
            <p:cNvSpPr/>
            <p:nvPr/>
          </p:nvSpPr>
          <p:spPr>
            <a:xfrm>
              <a:off x="6105534" y="1782300"/>
              <a:ext cx="177996" cy="125319"/>
            </a:xfrm>
            <a:custGeom>
              <a:avLst/>
              <a:gdLst/>
              <a:ahLst/>
              <a:cxnLst/>
              <a:rect l="0" t="0" r="0" b="0"/>
              <a:pathLst>
                <a:path w="177996" h="125319">
                  <a:moveTo>
                    <a:pt x="11680" y="0"/>
                  </a:moveTo>
                  <a:lnTo>
                    <a:pt x="177996" y="78706"/>
                  </a:lnTo>
                  <a:lnTo>
                    <a:pt x="0" y="125319"/>
                  </a:lnTo>
                  <a:lnTo>
                    <a:pt x="11680" y="0"/>
                  </a:lnTo>
                  <a:close/>
                </a:path>
              </a:pathLst>
            </a:custGeom>
            <a:ln w="38100" cap="flat">
              <a:miter lim="127000"/>
            </a:ln>
          </p:spPr>
          <p:style>
            <a:lnRef idx="1">
              <a:srgbClr val="3D85C6"/>
            </a:lnRef>
            <a:fillRef idx="1">
              <a:srgbClr val="3D85C6"/>
            </a:fillRef>
            <a:effectRef idx="0">
              <a:scrgbClr r="0" g="0" b="0"/>
            </a:effectRef>
            <a:fontRef idx="none"/>
          </p:style>
          <p:txBody>
            <a:bodyPr/>
            <a:lstStyle/>
            <a:p>
              <a:endParaRPr lang="en-US"/>
            </a:p>
          </p:txBody>
        </p:sp>
      </p:grpSp>
    </p:spTree>
    <p:extLst>
      <p:ext uri="{BB962C8B-B14F-4D97-AF65-F5344CB8AC3E}">
        <p14:creationId xmlns:p14="http://schemas.microsoft.com/office/powerpoint/2010/main" val="477301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C71ED-179B-9239-3BF3-C14486D8D43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E52DD78-6A36-E056-E7B7-A0470A0717A5}"/>
              </a:ext>
            </a:extLst>
          </p:cNvPr>
          <p:cNvSpPr>
            <a:spLocks noGrp="1"/>
          </p:cNvSpPr>
          <p:nvPr>
            <p:ph type="sldNum" sz="quarter" idx="10"/>
          </p:nvPr>
        </p:nvSpPr>
        <p:spPr/>
        <p:txBody>
          <a:bodyPr/>
          <a:lstStyle/>
          <a:p>
            <a:fld id="{48F63A3B-78C7-47BE-AE5E-E10140E04643}" type="slidenum">
              <a:rPr lang="en-US" smtClean="0"/>
              <a:pPr/>
              <a:t>15</a:t>
            </a:fld>
            <a:endParaRPr lang="en-US" dirty="0"/>
          </a:p>
        </p:txBody>
      </p:sp>
      <p:grpSp>
        <p:nvGrpSpPr>
          <p:cNvPr id="2" name="Group 1">
            <a:extLst>
              <a:ext uri="{FF2B5EF4-FFF2-40B4-BE49-F238E27FC236}">
                <a16:creationId xmlns:a16="http://schemas.microsoft.com/office/drawing/2014/main" id="{B6796634-3C48-B7EC-650C-4517CFA1805E}"/>
              </a:ext>
            </a:extLst>
          </p:cNvPr>
          <p:cNvGrpSpPr/>
          <p:nvPr/>
        </p:nvGrpSpPr>
        <p:grpSpPr>
          <a:xfrm>
            <a:off x="0" y="0"/>
            <a:ext cx="12192000" cy="6858000"/>
            <a:chOff x="0" y="0"/>
            <a:chExt cx="7333424" cy="5143500"/>
          </a:xfrm>
        </p:grpSpPr>
        <p:pic>
          <p:nvPicPr>
            <p:cNvPr id="4" name="Picture 3">
              <a:extLst>
                <a:ext uri="{FF2B5EF4-FFF2-40B4-BE49-F238E27FC236}">
                  <a16:creationId xmlns:a16="http://schemas.microsoft.com/office/drawing/2014/main" id="{E26D6E10-760C-0733-E7E6-57AC77137BA1}"/>
                </a:ext>
              </a:extLst>
            </p:cNvPr>
            <p:cNvPicPr/>
            <p:nvPr/>
          </p:nvPicPr>
          <p:blipFill>
            <a:blip r:embed="rId2"/>
            <a:stretch>
              <a:fillRect/>
            </a:stretch>
          </p:blipFill>
          <p:spPr>
            <a:xfrm>
              <a:off x="0" y="0"/>
              <a:ext cx="5660633" cy="5143500"/>
            </a:xfrm>
            <a:prstGeom prst="rect">
              <a:avLst/>
            </a:prstGeom>
          </p:spPr>
        </p:pic>
        <p:sp>
          <p:nvSpPr>
            <p:cNvPr id="5" name="Shape 95">
              <a:extLst>
                <a:ext uri="{FF2B5EF4-FFF2-40B4-BE49-F238E27FC236}">
                  <a16:creationId xmlns:a16="http://schemas.microsoft.com/office/drawing/2014/main" id="{345D60E9-3B1D-D98F-1ADC-DEF24AA119A9}"/>
                </a:ext>
              </a:extLst>
            </p:cNvPr>
            <p:cNvSpPr/>
            <p:nvPr/>
          </p:nvSpPr>
          <p:spPr>
            <a:xfrm>
              <a:off x="1772320" y="1331694"/>
              <a:ext cx="4718496" cy="878707"/>
            </a:xfrm>
            <a:custGeom>
              <a:avLst/>
              <a:gdLst/>
              <a:ahLst/>
              <a:cxnLst/>
              <a:rect l="0" t="0" r="0" b="0"/>
              <a:pathLst>
                <a:path w="4718496" h="878707">
                  <a:moveTo>
                    <a:pt x="0" y="878707"/>
                  </a:moveTo>
                  <a:cubicBezTo>
                    <a:pt x="972084" y="878707"/>
                    <a:pt x="1486576" y="655784"/>
                    <a:pt x="1944167" y="445845"/>
                  </a:cubicBezTo>
                  <a:cubicBezTo>
                    <a:pt x="2401759" y="235905"/>
                    <a:pt x="2802448" y="38948"/>
                    <a:pt x="3431934" y="12983"/>
                  </a:cubicBezTo>
                  <a:cubicBezTo>
                    <a:pt x="3746676" y="0"/>
                    <a:pt x="4118618" y="29766"/>
                    <a:pt x="4411874" y="77659"/>
                  </a:cubicBezTo>
                  <a:cubicBezTo>
                    <a:pt x="4485188" y="89633"/>
                    <a:pt x="4553584" y="102739"/>
                    <a:pt x="4614939" y="116594"/>
                  </a:cubicBezTo>
                  <a:cubicBezTo>
                    <a:pt x="4645617" y="123522"/>
                    <a:pt x="4674534" y="130636"/>
                    <a:pt x="4701425" y="137890"/>
                  </a:cubicBezTo>
                  <a:cubicBezTo>
                    <a:pt x="4704787" y="138796"/>
                    <a:pt x="4708117" y="139705"/>
                    <a:pt x="4711415" y="140616"/>
                  </a:cubicBezTo>
                  <a:lnTo>
                    <a:pt x="4718496" y="142596"/>
                  </a:lnTo>
                </a:path>
              </a:pathLst>
            </a:custGeom>
            <a:ln w="38100" cap="flat">
              <a:round/>
            </a:ln>
          </p:spPr>
          <p:style>
            <a:lnRef idx="1">
              <a:srgbClr val="3D85C6"/>
            </a:lnRef>
            <a:fillRef idx="0">
              <a:srgbClr val="000000">
                <a:alpha val="0"/>
              </a:srgbClr>
            </a:fillRef>
            <a:effectRef idx="0">
              <a:scrgbClr r="0" g="0" b="0"/>
            </a:effectRef>
            <a:fontRef idx="none"/>
          </p:style>
          <p:txBody>
            <a:bodyPr/>
            <a:lstStyle/>
            <a:p>
              <a:endParaRPr lang="en-US"/>
            </a:p>
          </p:txBody>
        </p:sp>
        <p:sp>
          <p:nvSpPr>
            <p:cNvPr id="6" name="Shape 96">
              <a:extLst>
                <a:ext uri="{FF2B5EF4-FFF2-40B4-BE49-F238E27FC236}">
                  <a16:creationId xmlns:a16="http://schemas.microsoft.com/office/drawing/2014/main" id="{27D6814C-40F0-3376-079E-9387B19DFF84}"/>
                </a:ext>
              </a:extLst>
            </p:cNvPr>
            <p:cNvSpPr/>
            <p:nvPr/>
          </p:nvSpPr>
          <p:spPr>
            <a:xfrm>
              <a:off x="6460943" y="1418900"/>
              <a:ext cx="182053" cy="137461"/>
            </a:xfrm>
            <a:custGeom>
              <a:avLst/>
              <a:gdLst/>
              <a:ahLst/>
              <a:cxnLst/>
              <a:rect l="0" t="0" r="0" b="0"/>
              <a:pathLst>
                <a:path w="182053" h="137461">
                  <a:moveTo>
                    <a:pt x="59744" y="0"/>
                  </a:moveTo>
                  <a:lnTo>
                    <a:pt x="182053" y="137461"/>
                  </a:lnTo>
                  <a:lnTo>
                    <a:pt x="0" y="110779"/>
                  </a:lnTo>
                  <a:lnTo>
                    <a:pt x="59744" y="0"/>
                  </a:lnTo>
                  <a:close/>
                </a:path>
              </a:pathLst>
            </a:custGeom>
            <a:ln w="38100" cap="flat">
              <a:miter lim="127000"/>
            </a:ln>
          </p:spPr>
          <p:style>
            <a:lnRef idx="1">
              <a:srgbClr val="3D85C6"/>
            </a:lnRef>
            <a:fillRef idx="1">
              <a:srgbClr val="3D85C6"/>
            </a:fillRef>
            <a:effectRef idx="0">
              <a:scrgbClr r="0" g="0" b="0"/>
            </a:effectRef>
            <a:fontRef idx="none"/>
          </p:style>
          <p:txBody>
            <a:bodyPr/>
            <a:lstStyle/>
            <a:p>
              <a:endParaRPr lang="en-US"/>
            </a:p>
          </p:txBody>
        </p:sp>
        <p:sp>
          <p:nvSpPr>
            <p:cNvPr id="7" name="Rectangle 6">
              <a:extLst>
                <a:ext uri="{FF2B5EF4-FFF2-40B4-BE49-F238E27FC236}">
                  <a16:creationId xmlns:a16="http://schemas.microsoft.com/office/drawing/2014/main" id="{87FAEF2D-5992-ADCA-AA03-EB199B9BE1A9}"/>
                </a:ext>
              </a:extLst>
            </p:cNvPr>
            <p:cNvSpPr/>
            <p:nvPr/>
          </p:nvSpPr>
          <p:spPr>
            <a:xfrm>
              <a:off x="5746345" y="1681036"/>
              <a:ext cx="1587079" cy="339667"/>
            </a:xfrm>
            <a:prstGeom prst="rect">
              <a:avLst/>
            </a:prstGeom>
            <a:ln>
              <a:noFill/>
            </a:ln>
          </p:spPr>
          <p:txBody>
            <a:bodyPr vert="horz" lIns="0" tIns="0" rIns="0" bIns="0" rtlCol="0">
              <a:noAutofit/>
            </a:bodyPr>
            <a:lstStyle/>
            <a:p>
              <a:pPr marL="0" marR="0">
                <a:lnSpc>
                  <a:spcPct val="107000"/>
                </a:lnSpc>
                <a:spcAft>
                  <a:spcPts val="800"/>
                </a:spcAft>
                <a:buNone/>
              </a:pPr>
              <a:r>
                <a:rPr lang="en-US" sz="1800" kern="100">
                  <a:solidFill>
                    <a:srgbClr val="595959"/>
                  </a:solidFill>
                  <a:effectLst/>
                  <a:latin typeface="Arial" panose="020B0604020202020204" pitchFamily="34" charset="0"/>
                  <a:ea typeface="Arial" panose="020B0604020202020204" pitchFamily="34" charset="0"/>
                </a:rPr>
                <a:t>Progress &amp; </a:t>
              </a:r>
            </a:p>
          </p:txBody>
        </p:sp>
        <p:sp>
          <p:nvSpPr>
            <p:cNvPr id="8" name="Rectangle 7">
              <a:extLst>
                <a:ext uri="{FF2B5EF4-FFF2-40B4-BE49-F238E27FC236}">
                  <a16:creationId xmlns:a16="http://schemas.microsoft.com/office/drawing/2014/main" id="{CDBF06C2-3797-1CCC-96DC-8A80CC29F031}"/>
                </a:ext>
              </a:extLst>
            </p:cNvPr>
            <p:cNvSpPr/>
            <p:nvPr/>
          </p:nvSpPr>
          <p:spPr>
            <a:xfrm>
              <a:off x="5746345" y="1955356"/>
              <a:ext cx="1030689" cy="339667"/>
            </a:xfrm>
            <a:prstGeom prst="rect">
              <a:avLst/>
            </a:prstGeom>
            <a:ln>
              <a:noFill/>
            </a:ln>
          </p:spPr>
          <p:txBody>
            <a:bodyPr vert="horz" lIns="0" tIns="0" rIns="0" bIns="0" rtlCol="0">
              <a:noAutofit/>
            </a:bodyPr>
            <a:lstStyle/>
            <a:p>
              <a:pPr marL="0" marR="0">
                <a:lnSpc>
                  <a:spcPct val="107000"/>
                </a:lnSpc>
                <a:spcAft>
                  <a:spcPts val="800"/>
                </a:spcAft>
                <a:buNone/>
              </a:pPr>
              <a:r>
                <a:rPr lang="en-US" sz="1800" kern="100">
                  <a:solidFill>
                    <a:srgbClr val="595959"/>
                  </a:solidFill>
                  <a:effectLst/>
                  <a:latin typeface="Arial" panose="020B0604020202020204" pitchFamily="34" charset="0"/>
                  <a:ea typeface="Arial" panose="020B0604020202020204" pitchFamily="34" charset="0"/>
                </a:rPr>
                <a:t>Badges</a:t>
              </a:r>
            </a:p>
          </p:txBody>
        </p:sp>
      </p:grpSp>
    </p:spTree>
    <p:extLst>
      <p:ext uri="{BB962C8B-B14F-4D97-AF65-F5344CB8AC3E}">
        <p14:creationId xmlns:p14="http://schemas.microsoft.com/office/powerpoint/2010/main" val="3473453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B3C3E-683B-E62B-A0EF-D68184A92AD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159274C-AC37-4299-C52F-05CEE87A7365}"/>
              </a:ext>
            </a:extLst>
          </p:cNvPr>
          <p:cNvSpPr>
            <a:spLocks noGrp="1"/>
          </p:cNvSpPr>
          <p:nvPr>
            <p:ph type="sldNum" sz="quarter" idx="10"/>
          </p:nvPr>
        </p:nvSpPr>
        <p:spPr/>
        <p:txBody>
          <a:bodyPr/>
          <a:lstStyle/>
          <a:p>
            <a:fld id="{48F63A3B-78C7-47BE-AE5E-E10140E04643}" type="slidenum">
              <a:rPr lang="en-US" smtClean="0"/>
              <a:pPr/>
              <a:t>16</a:t>
            </a:fld>
            <a:endParaRPr lang="en-US" dirty="0"/>
          </a:p>
        </p:txBody>
      </p:sp>
      <p:pic>
        <p:nvPicPr>
          <p:cNvPr id="2" name="Picture 1">
            <a:extLst>
              <a:ext uri="{FF2B5EF4-FFF2-40B4-BE49-F238E27FC236}">
                <a16:creationId xmlns:a16="http://schemas.microsoft.com/office/drawing/2014/main" id="{A69E0AD1-9C2A-D649-A38B-FDD9DDB166F0}"/>
              </a:ext>
            </a:extLst>
          </p:cNvPr>
          <p:cNvPicPr/>
          <p:nvPr/>
        </p:nvPicPr>
        <p:blipFill>
          <a:blip r:embed="rId2"/>
          <a:stretch>
            <a:fillRect/>
          </a:stretch>
        </p:blipFill>
        <p:spPr>
          <a:xfrm>
            <a:off x="1" y="-1"/>
            <a:ext cx="12192000" cy="6858001"/>
          </a:xfrm>
          <a:prstGeom prst="rect">
            <a:avLst/>
          </a:prstGeom>
        </p:spPr>
      </p:pic>
    </p:spTree>
    <p:extLst>
      <p:ext uri="{BB962C8B-B14F-4D97-AF65-F5344CB8AC3E}">
        <p14:creationId xmlns:p14="http://schemas.microsoft.com/office/powerpoint/2010/main" val="3019630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27DB0-9CCF-EF3E-DE8C-70D61AD913C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EB9D9B-0F4C-C27F-C5B7-B8B7E9E54116}"/>
              </a:ext>
            </a:extLst>
          </p:cNvPr>
          <p:cNvSpPr>
            <a:spLocks noGrp="1"/>
          </p:cNvSpPr>
          <p:nvPr>
            <p:ph type="sldNum" sz="quarter" idx="10"/>
          </p:nvPr>
        </p:nvSpPr>
        <p:spPr/>
        <p:txBody>
          <a:bodyPr/>
          <a:lstStyle/>
          <a:p>
            <a:fld id="{48F63A3B-78C7-47BE-AE5E-E10140E04643}" type="slidenum">
              <a:rPr lang="en-US" smtClean="0"/>
              <a:pPr/>
              <a:t>17</a:t>
            </a:fld>
            <a:endParaRPr lang="en-US" dirty="0"/>
          </a:p>
        </p:txBody>
      </p:sp>
      <p:grpSp>
        <p:nvGrpSpPr>
          <p:cNvPr id="2" name="Group 1">
            <a:extLst>
              <a:ext uri="{FF2B5EF4-FFF2-40B4-BE49-F238E27FC236}">
                <a16:creationId xmlns:a16="http://schemas.microsoft.com/office/drawing/2014/main" id="{D01CE30C-F6AD-7E0B-9991-08A4EF3941A5}"/>
              </a:ext>
            </a:extLst>
          </p:cNvPr>
          <p:cNvGrpSpPr/>
          <p:nvPr/>
        </p:nvGrpSpPr>
        <p:grpSpPr>
          <a:xfrm>
            <a:off x="0" y="0"/>
            <a:ext cx="11979797" cy="6858000"/>
            <a:chOff x="0" y="0"/>
            <a:chExt cx="7233394" cy="5143500"/>
          </a:xfrm>
        </p:grpSpPr>
        <p:pic>
          <p:nvPicPr>
            <p:cNvPr id="4" name="Picture 3">
              <a:extLst>
                <a:ext uri="{FF2B5EF4-FFF2-40B4-BE49-F238E27FC236}">
                  <a16:creationId xmlns:a16="http://schemas.microsoft.com/office/drawing/2014/main" id="{197D4BD3-E582-3FA8-1DF3-FCD9550F3D53}"/>
                </a:ext>
              </a:extLst>
            </p:cNvPr>
            <p:cNvPicPr/>
            <p:nvPr/>
          </p:nvPicPr>
          <p:blipFill>
            <a:blip r:embed="rId2"/>
            <a:stretch>
              <a:fillRect/>
            </a:stretch>
          </p:blipFill>
          <p:spPr>
            <a:xfrm>
              <a:off x="0" y="0"/>
              <a:ext cx="5660633" cy="5143500"/>
            </a:xfrm>
            <a:prstGeom prst="rect">
              <a:avLst/>
            </a:prstGeom>
          </p:spPr>
        </p:pic>
        <p:sp>
          <p:nvSpPr>
            <p:cNvPr id="5" name="Shape 122">
              <a:extLst>
                <a:ext uri="{FF2B5EF4-FFF2-40B4-BE49-F238E27FC236}">
                  <a16:creationId xmlns:a16="http://schemas.microsoft.com/office/drawing/2014/main" id="{3FAEC7AF-5EB1-8DA4-65B7-5B4C0954FC8A}"/>
                </a:ext>
              </a:extLst>
            </p:cNvPr>
            <p:cNvSpPr/>
            <p:nvPr/>
          </p:nvSpPr>
          <p:spPr>
            <a:xfrm>
              <a:off x="4396620" y="2330850"/>
              <a:ext cx="1709938" cy="471369"/>
            </a:xfrm>
            <a:custGeom>
              <a:avLst/>
              <a:gdLst/>
              <a:ahLst/>
              <a:cxnLst/>
              <a:rect l="0" t="0" r="0" b="0"/>
              <a:pathLst>
                <a:path w="1709938" h="471369">
                  <a:moveTo>
                    <a:pt x="0" y="0"/>
                  </a:moveTo>
                  <a:cubicBezTo>
                    <a:pt x="494451" y="0"/>
                    <a:pt x="746614" y="120450"/>
                    <a:pt x="988901" y="240900"/>
                  </a:cubicBezTo>
                  <a:cubicBezTo>
                    <a:pt x="1110045" y="301125"/>
                    <a:pt x="1228720" y="361350"/>
                    <a:pt x="1376446" y="406519"/>
                  </a:cubicBezTo>
                  <a:cubicBezTo>
                    <a:pt x="1450310" y="429103"/>
                    <a:pt x="1531435" y="447923"/>
                    <a:pt x="1623764" y="461098"/>
                  </a:cubicBezTo>
                  <a:cubicBezTo>
                    <a:pt x="1646846" y="464391"/>
                    <a:pt x="1670629" y="467332"/>
                    <a:pt x="1695174" y="469890"/>
                  </a:cubicBezTo>
                  <a:cubicBezTo>
                    <a:pt x="1698241" y="470210"/>
                    <a:pt x="1701321" y="470524"/>
                    <a:pt x="1704413" y="470832"/>
                  </a:cubicBezTo>
                  <a:lnTo>
                    <a:pt x="1709938" y="471369"/>
                  </a:lnTo>
                </a:path>
              </a:pathLst>
            </a:custGeom>
            <a:ln w="38100" cap="flat">
              <a:round/>
            </a:ln>
          </p:spPr>
          <p:style>
            <a:lnRef idx="1">
              <a:srgbClr val="3D85C6"/>
            </a:lnRef>
            <a:fillRef idx="0">
              <a:srgbClr val="000000">
                <a:alpha val="0"/>
              </a:srgbClr>
            </a:fillRef>
            <a:effectRef idx="0">
              <a:scrgbClr r="0" g="0" b="0"/>
            </a:effectRef>
            <a:fontRef idx="none"/>
          </p:style>
          <p:txBody>
            <a:bodyPr/>
            <a:lstStyle/>
            <a:p>
              <a:endParaRPr lang="en-US"/>
            </a:p>
          </p:txBody>
        </p:sp>
        <p:sp>
          <p:nvSpPr>
            <p:cNvPr id="6" name="Rectangle 5">
              <a:extLst>
                <a:ext uri="{FF2B5EF4-FFF2-40B4-BE49-F238E27FC236}">
                  <a16:creationId xmlns:a16="http://schemas.microsoft.com/office/drawing/2014/main" id="{BD0E41DE-9D5F-8CA1-38EA-A16A7B1198DF}"/>
                </a:ext>
              </a:extLst>
            </p:cNvPr>
            <p:cNvSpPr/>
            <p:nvPr/>
          </p:nvSpPr>
          <p:spPr>
            <a:xfrm>
              <a:off x="5746345" y="2361136"/>
              <a:ext cx="1487049" cy="339667"/>
            </a:xfrm>
            <a:prstGeom prst="rect">
              <a:avLst/>
            </a:prstGeom>
            <a:ln>
              <a:noFill/>
            </a:ln>
          </p:spPr>
          <p:txBody>
            <a:bodyPr vert="horz" lIns="0" tIns="0" rIns="0" bIns="0" rtlCol="0">
              <a:noAutofit/>
            </a:bodyPr>
            <a:lstStyle/>
            <a:p>
              <a:pPr marL="0" marR="0">
                <a:lnSpc>
                  <a:spcPct val="107000"/>
                </a:lnSpc>
                <a:spcAft>
                  <a:spcPts val="800"/>
                </a:spcAft>
                <a:buNone/>
              </a:pPr>
              <a:r>
                <a:rPr lang="en-US" sz="1800" kern="100">
                  <a:solidFill>
                    <a:srgbClr val="595959"/>
                  </a:solidFill>
                  <a:effectLst/>
                  <a:latin typeface="Arial" panose="020B0604020202020204" pitchFamily="34" charset="0"/>
                  <a:ea typeface="Arial" panose="020B0604020202020204" pitchFamily="34" charset="0"/>
                </a:rPr>
                <a:t>Dashboard</a:t>
              </a:r>
            </a:p>
          </p:txBody>
        </p:sp>
      </p:grpSp>
    </p:spTree>
    <p:extLst>
      <p:ext uri="{BB962C8B-B14F-4D97-AF65-F5344CB8AC3E}">
        <p14:creationId xmlns:p14="http://schemas.microsoft.com/office/powerpoint/2010/main" val="2103149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F8A53-6901-5A68-798E-A920BC8D36A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D7651A2-D6A2-AE3C-16BE-C582AAA0CD29}"/>
              </a:ext>
            </a:extLst>
          </p:cNvPr>
          <p:cNvSpPr>
            <a:spLocks noGrp="1"/>
          </p:cNvSpPr>
          <p:nvPr>
            <p:ph type="sldNum" sz="quarter" idx="10"/>
          </p:nvPr>
        </p:nvSpPr>
        <p:spPr/>
        <p:txBody>
          <a:bodyPr/>
          <a:lstStyle/>
          <a:p>
            <a:fld id="{48F63A3B-78C7-47BE-AE5E-E10140E04643}" type="slidenum">
              <a:rPr lang="en-US" smtClean="0"/>
              <a:pPr/>
              <a:t>18</a:t>
            </a:fld>
            <a:endParaRPr lang="en-US" dirty="0"/>
          </a:p>
        </p:txBody>
      </p:sp>
      <p:grpSp>
        <p:nvGrpSpPr>
          <p:cNvPr id="2" name="Group 1">
            <a:extLst>
              <a:ext uri="{FF2B5EF4-FFF2-40B4-BE49-F238E27FC236}">
                <a16:creationId xmlns:a16="http://schemas.microsoft.com/office/drawing/2014/main" id="{81648DCF-1574-4908-C8AE-1CD5B71FBB96}"/>
              </a:ext>
            </a:extLst>
          </p:cNvPr>
          <p:cNvGrpSpPr/>
          <p:nvPr/>
        </p:nvGrpSpPr>
        <p:grpSpPr>
          <a:xfrm>
            <a:off x="0" y="0"/>
            <a:ext cx="12060820" cy="6857999"/>
            <a:chOff x="0" y="0"/>
            <a:chExt cx="5922547" cy="4991100"/>
          </a:xfrm>
        </p:grpSpPr>
        <p:sp>
          <p:nvSpPr>
            <p:cNvPr id="4" name="Rectangle 3">
              <a:extLst>
                <a:ext uri="{FF2B5EF4-FFF2-40B4-BE49-F238E27FC236}">
                  <a16:creationId xmlns:a16="http://schemas.microsoft.com/office/drawing/2014/main" id="{1A50C64B-BEF7-CE84-EDB5-581C0B87D3C0}"/>
                </a:ext>
              </a:extLst>
            </p:cNvPr>
            <p:cNvSpPr/>
            <p:nvPr/>
          </p:nvSpPr>
          <p:spPr>
            <a:xfrm>
              <a:off x="5246975" y="1651560"/>
              <a:ext cx="675572" cy="339667"/>
            </a:xfrm>
            <a:prstGeom prst="rect">
              <a:avLst/>
            </a:prstGeom>
            <a:ln>
              <a:noFill/>
            </a:ln>
          </p:spPr>
          <p:txBody>
            <a:bodyPr vert="horz" lIns="0" tIns="0" rIns="0" bIns="0" rtlCol="0">
              <a:noAutofit/>
            </a:bodyPr>
            <a:lstStyle/>
            <a:p>
              <a:pPr marL="0" marR="0">
                <a:lnSpc>
                  <a:spcPct val="107000"/>
                </a:lnSpc>
                <a:spcAft>
                  <a:spcPts val="800"/>
                </a:spcAft>
                <a:buNone/>
              </a:pPr>
              <a:r>
                <a:rPr lang="en-US" sz="1800" kern="100">
                  <a:solidFill>
                    <a:srgbClr val="595959"/>
                  </a:solidFill>
                  <a:effectLst/>
                  <a:latin typeface="Arial" panose="020B0604020202020204" pitchFamily="34" charset="0"/>
                  <a:ea typeface="Arial" panose="020B0604020202020204" pitchFamily="34" charset="0"/>
                </a:rPr>
                <a:t>Back</a:t>
              </a:r>
            </a:p>
          </p:txBody>
        </p:sp>
        <p:pic>
          <p:nvPicPr>
            <p:cNvPr id="5" name="Picture 4">
              <a:extLst>
                <a:ext uri="{FF2B5EF4-FFF2-40B4-BE49-F238E27FC236}">
                  <a16:creationId xmlns:a16="http://schemas.microsoft.com/office/drawing/2014/main" id="{A8AA3331-3622-2739-99C2-8B68F9AC0CA3}"/>
                </a:ext>
              </a:extLst>
            </p:cNvPr>
            <p:cNvPicPr/>
            <p:nvPr/>
          </p:nvPicPr>
          <p:blipFill>
            <a:blip r:embed="rId2"/>
            <a:stretch>
              <a:fillRect/>
            </a:stretch>
          </p:blipFill>
          <p:spPr>
            <a:xfrm>
              <a:off x="0" y="0"/>
              <a:ext cx="4079787" cy="4991100"/>
            </a:xfrm>
            <a:prstGeom prst="rect">
              <a:avLst/>
            </a:prstGeom>
          </p:spPr>
        </p:pic>
        <p:sp>
          <p:nvSpPr>
            <p:cNvPr id="6" name="Shape 137">
              <a:extLst>
                <a:ext uri="{FF2B5EF4-FFF2-40B4-BE49-F238E27FC236}">
                  <a16:creationId xmlns:a16="http://schemas.microsoft.com/office/drawing/2014/main" id="{6AB030ED-211E-CD28-74B7-82A2010C916C}"/>
                </a:ext>
              </a:extLst>
            </p:cNvPr>
            <p:cNvSpPr/>
            <p:nvPr/>
          </p:nvSpPr>
          <p:spPr>
            <a:xfrm>
              <a:off x="4211750" y="901500"/>
              <a:ext cx="734354" cy="831734"/>
            </a:xfrm>
            <a:custGeom>
              <a:avLst/>
              <a:gdLst/>
              <a:ahLst/>
              <a:cxnLst/>
              <a:rect l="0" t="0" r="0" b="0"/>
              <a:pathLst>
                <a:path w="734354" h="831734">
                  <a:moveTo>
                    <a:pt x="0" y="0"/>
                  </a:moveTo>
                  <a:cubicBezTo>
                    <a:pt x="237375" y="0"/>
                    <a:pt x="356062" y="227250"/>
                    <a:pt x="474750" y="454500"/>
                  </a:cubicBezTo>
                  <a:cubicBezTo>
                    <a:pt x="534094" y="568125"/>
                    <a:pt x="593437" y="681750"/>
                    <a:pt x="667617" y="766969"/>
                  </a:cubicBezTo>
                  <a:cubicBezTo>
                    <a:pt x="686162" y="788273"/>
                    <a:pt x="705634" y="807803"/>
                    <a:pt x="726266" y="825113"/>
                  </a:cubicBezTo>
                  <a:cubicBezTo>
                    <a:pt x="728845" y="827277"/>
                    <a:pt x="731441" y="829406"/>
                    <a:pt x="734057" y="831499"/>
                  </a:cubicBezTo>
                  <a:lnTo>
                    <a:pt x="734354" y="831734"/>
                  </a:lnTo>
                </a:path>
              </a:pathLst>
            </a:custGeom>
            <a:ln w="38100" cap="flat">
              <a:round/>
            </a:ln>
          </p:spPr>
          <p:style>
            <a:lnRef idx="1">
              <a:srgbClr val="3D85C6"/>
            </a:lnRef>
            <a:fillRef idx="0">
              <a:srgbClr val="000000">
                <a:alpha val="0"/>
              </a:srgbClr>
            </a:fillRef>
            <a:effectRef idx="0">
              <a:scrgbClr r="0" g="0" b="0"/>
            </a:effectRef>
            <a:fontRef idx="none"/>
          </p:style>
          <p:txBody>
            <a:bodyPr/>
            <a:lstStyle/>
            <a:p>
              <a:endParaRPr lang="en-US"/>
            </a:p>
          </p:txBody>
        </p:sp>
        <p:sp>
          <p:nvSpPr>
            <p:cNvPr id="7" name="Shape 138">
              <a:extLst>
                <a:ext uri="{FF2B5EF4-FFF2-40B4-BE49-F238E27FC236}">
                  <a16:creationId xmlns:a16="http://schemas.microsoft.com/office/drawing/2014/main" id="{5D0AF770-0EE1-0CC1-6BFA-26189F31B3A6}"/>
                </a:ext>
              </a:extLst>
            </p:cNvPr>
            <p:cNvSpPr/>
            <p:nvPr/>
          </p:nvSpPr>
          <p:spPr>
            <a:xfrm>
              <a:off x="4924834" y="1674006"/>
              <a:ext cx="183996" cy="118455"/>
            </a:xfrm>
            <a:custGeom>
              <a:avLst/>
              <a:gdLst/>
              <a:ahLst/>
              <a:cxnLst/>
              <a:rect l="0" t="0" r="0" b="0"/>
              <a:pathLst>
                <a:path w="183996" h="118455">
                  <a:moveTo>
                    <a:pt x="42541" y="0"/>
                  </a:moveTo>
                  <a:lnTo>
                    <a:pt x="183996" y="117668"/>
                  </a:lnTo>
                  <a:lnTo>
                    <a:pt x="0" y="118455"/>
                  </a:lnTo>
                  <a:lnTo>
                    <a:pt x="42541" y="0"/>
                  </a:lnTo>
                  <a:close/>
                </a:path>
              </a:pathLst>
            </a:custGeom>
            <a:ln w="38100" cap="flat">
              <a:miter lim="127000"/>
            </a:ln>
          </p:spPr>
          <p:style>
            <a:lnRef idx="1">
              <a:srgbClr val="3D85C6"/>
            </a:lnRef>
            <a:fillRef idx="1">
              <a:srgbClr val="3D85C6"/>
            </a:fillRef>
            <a:effectRef idx="0">
              <a:scrgbClr r="0" g="0" b="0"/>
            </a:effectRef>
            <a:fontRef idx="none"/>
          </p:style>
          <p:txBody>
            <a:bodyPr/>
            <a:lstStyle/>
            <a:p>
              <a:endParaRPr lang="en-US"/>
            </a:p>
          </p:txBody>
        </p:sp>
      </p:grpSp>
    </p:spTree>
    <p:extLst>
      <p:ext uri="{BB962C8B-B14F-4D97-AF65-F5344CB8AC3E}">
        <p14:creationId xmlns:p14="http://schemas.microsoft.com/office/powerpoint/2010/main" val="3245609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AAC7B-80BE-7BE1-B683-0D817542C71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F81EA43-9FFE-F9D3-B43A-258A92D1BD6F}"/>
              </a:ext>
            </a:extLst>
          </p:cNvPr>
          <p:cNvSpPr>
            <a:spLocks noGrp="1"/>
          </p:cNvSpPr>
          <p:nvPr>
            <p:ph type="sldNum" sz="quarter" idx="10"/>
          </p:nvPr>
        </p:nvSpPr>
        <p:spPr/>
        <p:txBody>
          <a:bodyPr/>
          <a:lstStyle/>
          <a:p>
            <a:fld id="{48F63A3B-78C7-47BE-AE5E-E10140E04643}" type="slidenum">
              <a:rPr lang="en-US" smtClean="0"/>
              <a:pPr/>
              <a:t>19</a:t>
            </a:fld>
            <a:endParaRPr lang="en-US" dirty="0"/>
          </a:p>
        </p:txBody>
      </p:sp>
      <p:grpSp>
        <p:nvGrpSpPr>
          <p:cNvPr id="2" name="Group 1">
            <a:extLst>
              <a:ext uri="{FF2B5EF4-FFF2-40B4-BE49-F238E27FC236}">
                <a16:creationId xmlns:a16="http://schemas.microsoft.com/office/drawing/2014/main" id="{E55A359F-D7F9-CE4B-CBB3-7B22716B3350}"/>
              </a:ext>
            </a:extLst>
          </p:cNvPr>
          <p:cNvGrpSpPr/>
          <p:nvPr/>
        </p:nvGrpSpPr>
        <p:grpSpPr>
          <a:xfrm>
            <a:off x="0" y="1"/>
            <a:ext cx="12026095" cy="6858000"/>
            <a:chOff x="0" y="0"/>
            <a:chExt cx="8102108" cy="5143499"/>
          </a:xfrm>
        </p:grpSpPr>
        <p:sp>
          <p:nvSpPr>
            <p:cNvPr id="4" name="Rectangle 3">
              <a:extLst>
                <a:ext uri="{FF2B5EF4-FFF2-40B4-BE49-F238E27FC236}">
                  <a16:creationId xmlns:a16="http://schemas.microsoft.com/office/drawing/2014/main" id="{822D9E2B-B4B9-57B9-B26C-9F5EEDB4B596}"/>
                </a:ext>
              </a:extLst>
            </p:cNvPr>
            <p:cNvSpPr/>
            <p:nvPr/>
          </p:nvSpPr>
          <p:spPr>
            <a:xfrm>
              <a:off x="7426535" y="1586061"/>
              <a:ext cx="675573" cy="339667"/>
            </a:xfrm>
            <a:prstGeom prst="rect">
              <a:avLst/>
            </a:prstGeom>
            <a:ln>
              <a:noFill/>
            </a:ln>
          </p:spPr>
          <p:txBody>
            <a:bodyPr vert="horz" lIns="0" tIns="0" rIns="0" bIns="0" rtlCol="0">
              <a:noAutofit/>
            </a:bodyPr>
            <a:lstStyle/>
            <a:p>
              <a:pPr marL="0" marR="0">
                <a:lnSpc>
                  <a:spcPct val="107000"/>
                </a:lnSpc>
                <a:spcAft>
                  <a:spcPts val="800"/>
                </a:spcAft>
                <a:buNone/>
              </a:pPr>
              <a:r>
                <a:rPr lang="en-US" sz="1800" kern="100">
                  <a:solidFill>
                    <a:srgbClr val="595959"/>
                  </a:solidFill>
                  <a:effectLst/>
                  <a:latin typeface="Arial" panose="020B0604020202020204" pitchFamily="34" charset="0"/>
                  <a:ea typeface="Arial" panose="020B0604020202020204" pitchFamily="34" charset="0"/>
                </a:rPr>
                <a:t>Back</a:t>
              </a:r>
            </a:p>
          </p:txBody>
        </p:sp>
        <p:pic>
          <p:nvPicPr>
            <p:cNvPr id="5" name="Picture 4">
              <a:extLst>
                <a:ext uri="{FF2B5EF4-FFF2-40B4-BE49-F238E27FC236}">
                  <a16:creationId xmlns:a16="http://schemas.microsoft.com/office/drawing/2014/main" id="{A8222092-DB5D-BE31-B398-29A1E9EE9D55}"/>
                </a:ext>
              </a:extLst>
            </p:cNvPr>
            <p:cNvPicPr/>
            <p:nvPr/>
          </p:nvPicPr>
          <p:blipFill>
            <a:blip r:embed="rId2"/>
            <a:stretch>
              <a:fillRect/>
            </a:stretch>
          </p:blipFill>
          <p:spPr>
            <a:xfrm>
              <a:off x="2892610" y="0"/>
              <a:ext cx="4079788" cy="4991100"/>
            </a:xfrm>
            <a:prstGeom prst="rect">
              <a:avLst/>
            </a:prstGeom>
          </p:spPr>
        </p:pic>
        <p:pic>
          <p:nvPicPr>
            <p:cNvPr id="6" name="Picture 5">
              <a:extLst>
                <a:ext uri="{FF2B5EF4-FFF2-40B4-BE49-F238E27FC236}">
                  <a16:creationId xmlns:a16="http://schemas.microsoft.com/office/drawing/2014/main" id="{CB27742D-1208-993F-51AC-69B40E67C949}"/>
                </a:ext>
              </a:extLst>
            </p:cNvPr>
            <p:cNvPicPr/>
            <p:nvPr/>
          </p:nvPicPr>
          <p:blipFill>
            <a:blip r:embed="rId3"/>
            <a:stretch>
              <a:fillRect/>
            </a:stretch>
          </p:blipFill>
          <p:spPr>
            <a:xfrm>
              <a:off x="0" y="0"/>
              <a:ext cx="2720120" cy="5143499"/>
            </a:xfrm>
            <a:prstGeom prst="rect">
              <a:avLst/>
            </a:prstGeom>
          </p:spPr>
        </p:pic>
        <p:sp>
          <p:nvSpPr>
            <p:cNvPr id="7" name="Shape 153">
              <a:extLst>
                <a:ext uri="{FF2B5EF4-FFF2-40B4-BE49-F238E27FC236}">
                  <a16:creationId xmlns:a16="http://schemas.microsoft.com/office/drawing/2014/main" id="{A321289F-9CBB-3B20-CAA1-513ADA90453A}"/>
                </a:ext>
              </a:extLst>
            </p:cNvPr>
            <p:cNvSpPr/>
            <p:nvPr/>
          </p:nvSpPr>
          <p:spPr>
            <a:xfrm>
              <a:off x="6531960" y="977675"/>
              <a:ext cx="822512" cy="392673"/>
            </a:xfrm>
            <a:custGeom>
              <a:avLst/>
              <a:gdLst/>
              <a:ahLst/>
              <a:cxnLst/>
              <a:rect l="0" t="0" r="0" b="0"/>
              <a:pathLst>
                <a:path w="822512" h="392673">
                  <a:moveTo>
                    <a:pt x="0" y="0"/>
                  </a:moveTo>
                  <a:cubicBezTo>
                    <a:pt x="262200" y="0"/>
                    <a:pt x="393300" y="106275"/>
                    <a:pt x="524400" y="212550"/>
                  </a:cubicBezTo>
                  <a:cubicBezTo>
                    <a:pt x="589950" y="265687"/>
                    <a:pt x="655500" y="318825"/>
                    <a:pt x="737438" y="358678"/>
                  </a:cubicBezTo>
                  <a:cubicBezTo>
                    <a:pt x="757922" y="368641"/>
                    <a:pt x="779431" y="377774"/>
                    <a:pt x="802219" y="385869"/>
                  </a:cubicBezTo>
                  <a:cubicBezTo>
                    <a:pt x="807917" y="387893"/>
                    <a:pt x="813694" y="389852"/>
                    <a:pt x="819555" y="391743"/>
                  </a:cubicBezTo>
                  <a:lnTo>
                    <a:pt x="822512" y="392673"/>
                  </a:lnTo>
                </a:path>
              </a:pathLst>
            </a:custGeom>
            <a:ln w="38100" cap="flat">
              <a:round/>
            </a:ln>
          </p:spPr>
          <p:style>
            <a:lnRef idx="1">
              <a:srgbClr val="3D85C6"/>
            </a:lnRef>
            <a:fillRef idx="0">
              <a:srgbClr val="000000">
                <a:alpha val="0"/>
              </a:srgbClr>
            </a:fillRef>
            <a:effectRef idx="0">
              <a:scrgbClr r="0" g="0" b="0"/>
            </a:effectRef>
            <a:fontRef idx="none"/>
          </p:style>
          <p:txBody>
            <a:bodyPr/>
            <a:lstStyle/>
            <a:p>
              <a:endParaRPr lang="en-US"/>
            </a:p>
          </p:txBody>
        </p:sp>
        <p:sp>
          <p:nvSpPr>
            <p:cNvPr id="8" name="Shape 154">
              <a:extLst>
                <a:ext uri="{FF2B5EF4-FFF2-40B4-BE49-F238E27FC236}">
                  <a16:creationId xmlns:a16="http://schemas.microsoft.com/office/drawing/2014/main" id="{D2B41AB5-9BA1-8DB3-272E-6A42EF6090C4}"/>
                </a:ext>
              </a:extLst>
            </p:cNvPr>
            <p:cNvSpPr/>
            <p:nvPr/>
          </p:nvSpPr>
          <p:spPr>
            <a:xfrm>
              <a:off x="7345546" y="1308053"/>
              <a:ext cx="180080" cy="124589"/>
            </a:xfrm>
            <a:custGeom>
              <a:avLst/>
              <a:gdLst/>
              <a:ahLst/>
              <a:cxnLst/>
              <a:rect l="0" t="0" r="0" b="0"/>
              <a:pathLst>
                <a:path w="180080" h="124589">
                  <a:moveTo>
                    <a:pt x="17853" y="0"/>
                  </a:moveTo>
                  <a:lnTo>
                    <a:pt x="180080" y="86821"/>
                  </a:lnTo>
                  <a:lnTo>
                    <a:pt x="0" y="124589"/>
                  </a:lnTo>
                  <a:lnTo>
                    <a:pt x="17853" y="0"/>
                  </a:lnTo>
                  <a:close/>
                </a:path>
              </a:pathLst>
            </a:custGeom>
            <a:ln w="38100" cap="flat">
              <a:miter lim="127000"/>
            </a:ln>
          </p:spPr>
          <p:style>
            <a:lnRef idx="1">
              <a:srgbClr val="3D85C6"/>
            </a:lnRef>
            <a:fillRef idx="1">
              <a:srgbClr val="3D85C6"/>
            </a:fillRef>
            <a:effectRef idx="0">
              <a:scrgbClr r="0" g="0" b="0"/>
            </a:effectRef>
            <a:fontRef idx="none"/>
          </p:style>
          <p:txBody>
            <a:bodyPr/>
            <a:lstStyle/>
            <a:p>
              <a:endParaRPr lang="en-US"/>
            </a:p>
          </p:txBody>
        </p:sp>
      </p:grpSp>
    </p:spTree>
    <p:extLst>
      <p:ext uri="{BB962C8B-B14F-4D97-AF65-F5344CB8AC3E}">
        <p14:creationId xmlns:p14="http://schemas.microsoft.com/office/powerpoint/2010/main" val="330559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2DB39-54B7-D663-6887-ECCF4382980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DED197-39AB-BF71-7575-F627B26267AD}"/>
              </a:ext>
            </a:extLst>
          </p:cNvPr>
          <p:cNvSpPr>
            <a:spLocks noGrp="1"/>
          </p:cNvSpPr>
          <p:nvPr>
            <p:ph type="sldNum" sz="quarter" idx="10"/>
          </p:nvPr>
        </p:nvSpPr>
        <p:spPr/>
        <p:txBody>
          <a:bodyPr/>
          <a:lstStyle/>
          <a:p>
            <a:fld id="{48F63A3B-78C7-47BE-AE5E-E10140E04643}" type="slidenum">
              <a:rPr lang="en-US" smtClean="0"/>
              <a:pPr/>
              <a:t>20</a:t>
            </a:fld>
            <a:endParaRPr lang="en-US" dirty="0"/>
          </a:p>
        </p:txBody>
      </p:sp>
      <p:grpSp>
        <p:nvGrpSpPr>
          <p:cNvPr id="2" name="Group 1">
            <a:extLst>
              <a:ext uri="{FF2B5EF4-FFF2-40B4-BE49-F238E27FC236}">
                <a16:creationId xmlns:a16="http://schemas.microsoft.com/office/drawing/2014/main" id="{0A6310C1-8DCF-FB4F-EAF7-4616ABEA0221}"/>
              </a:ext>
            </a:extLst>
          </p:cNvPr>
          <p:cNvGrpSpPr/>
          <p:nvPr/>
        </p:nvGrpSpPr>
        <p:grpSpPr>
          <a:xfrm>
            <a:off x="0" y="0"/>
            <a:ext cx="12095543" cy="6858000"/>
            <a:chOff x="0" y="0"/>
            <a:chExt cx="7524985" cy="5143500"/>
          </a:xfrm>
        </p:grpSpPr>
        <p:pic>
          <p:nvPicPr>
            <p:cNvPr id="4" name="Picture 3">
              <a:extLst>
                <a:ext uri="{FF2B5EF4-FFF2-40B4-BE49-F238E27FC236}">
                  <a16:creationId xmlns:a16="http://schemas.microsoft.com/office/drawing/2014/main" id="{3D73F469-1139-3EBB-34FF-49C520B3DB81}"/>
                </a:ext>
              </a:extLst>
            </p:cNvPr>
            <p:cNvPicPr/>
            <p:nvPr/>
          </p:nvPicPr>
          <p:blipFill>
            <a:blip r:embed="rId2"/>
            <a:stretch>
              <a:fillRect/>
            </a:stretch>
          </p:blipFill>
          <p:spPr>
            <a:xfrm>
              <a:off x="0" y="0"/>
              <a:ext cx="5660633" cy="5143500"/>
            </a:xfrm>
            <a:prstGeom prst="rect">
              <a:avLst/>
            </a:prstGeom>
          </p:spPr>
        </p:pic>
        <p:sp>
          <p:nvSpPr>
            <p:cNvPr id="5" name="Shape 163">
              <a:extLst>
                <a:ext uri="{FF2B5EF4-FFF2-40B4-BE49-F238E27FC236}">
                  <a16:creationId xmlns:a16="http://schemas.microsoft.com/office/drawing/2014/main" id="{F207BB98-1D55-4721-22F6-F5FF53C470D6}"/>
                </a:ext>
              </a:extLst>
            </p:cNvPr>
            <p:cNvSpPr/>
            <p:nvPr/>
          </p:nvSpPr>
          <p:spPr>
            <a:xfrm>
              <a:off x="3447320" y="2556789"/>
              <a:ext cx="3351622" cy="1573461"/>
            </a:xfrm>
            <a:custGeom>
              <a:avLst/>
              <a:gdLst/>
              <a:ahLst/>
              <a:cxnLst/>
              <a:rect l="0" t="0" r="0" b="0"/>
              <a:pathLst>
                <a:path w="3351622" h="1573461">
                  <a:moveTo>
                    <a:pt x="0" y="1573461"/>
                  </a:moveTo>
                  <a:cubicBezTo>
                    <a:pt x="846600" y="1573461"/>
                    <a:pt x="1693200" y="1348536"/>
                    <a:pt x="2328150" y="1011149"/>
                  </a:cubicBezTo>
                  <a:cubicBezTo>
                    <a:pt x="2645625" y="842455"/>
                    <a:pt x="2910188" y="645646"/>
                    <a:pt x="3095381" y="434778"/>
                  </a:cubicBezTo>
                  <a:cubicBezTo>
                    <a:pt x="3187978" y="329345"/>
                    <a:pt x="3260733" y="220397"/>
                    <a:pt x="3310339" y="109691"/>
                  </a:cubicBezTo>
                  <a:cubicBezTo>
                    <a:pt x="3322740" y="82015"/>
                    <a:pt x="3333695" y="54229"/>
                    <a:pt x="3343150" y="26360"/>
                  </a:cubicBezTo>
                  <a:cubicBezTo>
                    <a:pt x="3345514" y="19393"/>
                    <a:pt x="3347785" y="12421"/>
                    <a:pt x="3349960" y="5444"/>
                  </a:cubicBezTo>
                  <a:lnTo>
                    <a:pt x="3351622" y="0"/>
                  </a:lnTo>
                </a:path>
              </a:pathLst>
            </a:custGeom>
            <a:ln w="38100" cap="flat">
              <a:round/>
            </a:ln>
          </p:spPr>
          <p:style>
            <a:lnRef idx="1">
              <a:srgbClr val="3D85C6"/>
            </a:lnRef>
            <a:fillRef idx="0">
              <a:srgbClr val="000000">
                <a:alpha val="0"/>
              </a:srgbClr>
            </a:fillRef>
            <a:effectRef idx="0">
              <a:scrgbClr r="0" g="0" b="0"/>
            </a:effectRef>
            <a:fontRef idx="none"/>
          </p:style>
          <p:txBody>
            <a:bodyPr/>
            <a:lstStyle/>
            <a:p>
              <a:endParaRPr lang="en-US"/>
            </a:p>
          </p:txBody>
        </p:sp>
        <p:sp>
          <p:nvSpPr>
            <p:cNvPr id="6" name="Shape 164">
              <a:extLst>
                <a:ext uri="{FF2B5EF4-FFF2-40B4-BE49-F238E27FC236}">
                  <a16:creationId xmlns:a16="http://schemas.microsoft.com/office/drawing/2014/main" id="{79A97E4E-713B-ADCE-47AD-DEA83D019239}"/>
                </a:ext>
              </a:extLst>
            </p:cNvPr>
            <p:cNvSpPr/>
            <p:nvPr/>
          </p:nvSpPr>
          <p:spPr>
            <a:xfrm>
              <a:off x="6736743" y="2385900"/>
              <a:ext cx="124397" cy="180463"/>
            </a:xfrm>
            <a:custGeom>
              <a:avLst/>
              <a:gdLst/>
              <a:ahLst/>
              <a:cxnLst/>
              <a:rect l="0" t="0" r="0" b="0"/>
              <a:pathLst>
                <a:path w="124397" h="180463">
                  <a:moveTo>
                    <a:pt x="88503" y="0"/>
                  </a:moveTo>
                  <a:lnTo>
                    <a:pt x="124397" y="180463"/>
                  </a:lnTo>
                  <a:lnTo>
                    <a:pt x="0" y="161315"/>
                  </a:lnTo>
                  <a:lnTo>
                    <a:pt x="88503" y="0"/>
                  </a:lnTo>
                  <a:close/>
                </a:path>
              </a:pathLst>
            </a:custGeom>
            <a:ln w="38100" cap="flat">
              <a:miter lim="127000"/>
            </a:ln>
          </p:spPr>
          <p:style>
            <a:lnRef idx="1">
              <a:srgbClr val="3D85C6"/>
            </a:lnRef>
            <a:fillRef idx="1">
              <a:srgbClr val="3D85C6"/>
            </a:fillRef>
            <a:effectRef idx="0">
              <a:scrgbClr r="0" g="0" b="0"/>
            </a:effectRef>
            <a:fontRef idx="none"/>
          </p:style>
          <p:txBody>
            <a:bodyPr/>
            <a:lstStyle/>
            <a:p>
              <a:endParaRPr lang="en-US"/>
            </a:p>
          </p:txBody>
        </p:sp>
        <p:sp>
          <p:nvSpPr>
            <p:cNvPr id="7" name="Rectangle 6">
              <a:extLst>
                <a:ext uri="{FF2B5EF4-FFF2-40B4-BE49-F238E27FC236}">
                  <a16:creationId xmlns:a16="http://schemas.microsoft.com/office/drawing/2014/main" id="{9F85892D-2E3A-7A77-6C0D-9CFF5BCA35D9}"/>
                </a:ext>
              </a:extLst>
            </p:cNvPr>
            <p:cNvSpPr/>
            <p:nvPr/>
          </p:nvSpPr>
          <p:spPr>
            <a:xfrm>
              <a:off x="5888045" y="1690186"/>
              <a:ext cx="1636940" cy="339667"/>
            </a:xfrm>
            <a:prstGeom prst="rect">
              <a:avLst/>
            </a:prstGeom>
            <a:ln>
              <a:noFill/>
            </a:ln>
          </p:spPr>
          <p:txBody>
            <a:bodyPr vert="horz" lIns="0" tIns="0" rIns="0" bIns="0" rtlCol="0">
              <a:noAutofit/>
            </a:bodyPr>
            <a:lstStyle/>
            <a:p>
              <a:pPr marL="0" marR="0">
                <a:lnSpc>
                  <a:spcPct val="107000"/>
                </a:lnSpc>
                <a:spcAft>
                  <a:spcPts val="800"/>
                </a:spcAft>
                <a:buNone/>
              </a:pPr>
              <a:r>
                <a:rPr lang="en-US" sz="1800" kern="100">
                  <a:solidFill>
                    <a:srgbClr val="595959"/>
                  </a:solidFill>
                  <a:effectLst/>
                  <a:latin typeface="Arial" panose="020B0604020202020204" pitchFamily="34" charset="0"/>
                  <a:ea typeface="Arial" panose="020B0604020202020204" pitchFamily="34" charset="0"/>
                </a:rPr>
                <a:t>AI Chat Bot </a:t>
              </a:r>
            </a:p>
          </p:txBody>
        </p:sp>
      </p:grpSp>
    </p:spTree>
    <p:extLst>
      <p:ext uri="{BB962C8B-B14F-4D97-AF65-F5344CB8AC3E}">
        <p14:creationId xmlns:p14="http://schemas.microsoft.com/office/powerpoint/2010/main" val="36266829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47AD8-A497-C004-E757-2D5F269CE01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95CD58F-AC54-B458-9AC2-EDBA246B0FE3}"/>
              </a:ext>
            </a:extLst>
          </p:cNvPr>
          <p:cNvSpPr>
            <a:spLocks noGrp="1"/>
          </p:cNvSpPr>
          <p:nvPr>
            <p:ph type="sldNum" sz="quarter" idx="10"/>
          </p:nvPr>
        </p:nvSpPr>
        <p:spPr/>
        <p:txBody>
          <a:bodyPr/>
          <a:lstStyle/>
          <a:p>
            <a:fld id="{48F63A3B-78C7-47BE-AE5E-E10140E04643}" type="slidenum">
              <a:rPr lang="en-US" smtClean="0"/>
              <a:pPr/>
              <a:t>21</a:t>
            </a:fld>
            <a:endParaRPr lang="en-US" dirty="0"/>
          </a:p>
        </p:txBody>
      </p:sp>
      <p:grpSp>
        <p:nvGrpSpPr>
          <p:cNvPr id="2" name="Group 1">
            <a:extLst>
              <a:ext uri="{FF2B5EF4-FFF2-40B4-BE49-F238E27FC236}">
                <a16:creationId xmlns:a16="http://schemas.microsoft.com/office/drawing/2014/main" id="{5B50143E-8A6E-3F69-AEFB-DC75602D8109}"/>
              </a:ext>
            </a:extLst>
          </p:cNvPr>
          <p:cNvGrpSpPr/>
          <p:nvPr/>
        </p:nvGrpSpPr>
        <p:grpSpPr>
          <a:xfrm>
            <a:off x="1" y="0"/>
            <a:ext cx="12107118" cy="6857999"/>
            <a:chOff x="-3236" y="-3302"/>
            <a:chExt cx="5582083" cy="4934712"/>
          </a:xfrm>
        </p:grpSpPr>
        <p:sp>
          <p:nvSpPr>
            <p:cNvPr id="4" name="Rectangle 3">
              <a:extLst>
                <a:ext uri="{FF2B5EF4-FFF2-40B4-BE49-F238E27FC236}">
                  <a16:creationId xmlns:a16="http://schemas.microsoft.com/office/drawing/2014/main" id="{E9DEDAD5-E3AC-1AD8-7CAA-12F9EB61DF49}"/>
                </a:ext>
              </a:extLst>
            </p:cNvPr>
            <p:cNvSpPr/>
            <p:nvPr/>
          </p:nvSpPr>
          <p:spPr>
            <a:xfrm>
              <a:off x="4903275" y="2309335"/>
              <a:ext cx="675572" cy="339668"/>
            </a:xfrm>
            <a:prstGeom prst="rect">
              <a:avLst/>
            </a:prstGeom>
            <a:ln>
              <a:noFill/>
            </a:ln>
          </p:spPr>
          <p:txBody>
            <a:bodyPr vert="horz" lIns="0" tIns="0" rIns="0" bIns="0" rtlCol="0">
              <a:noAutofit/>
            </a:bodyPr>
            <a:lstStyle/>
            <a:p>
              <a:pPr marL="0" marR="0">
                <a:lnSpc>
                  <a:spcPct val="107000"/>
                </a:lnSpc>
                <a:spcAft>
                  <a:spcPts val="800"/>
                </a:spcAft>
                <a:buNone/>
              </a:pPr>
              <a:r>
                <a:rPr lang="en-US" sz="1800" kern="100">
                  <a:solidFill>
                    <a:srgbClr val="595959"/>
                  </a:solidFill>
                  <a:effectLst/>
                  <a:latin typeface="Arial" panose="020B0604020202020204" pitchFamily="34" charset="0"/>
                  <a:ea typeface="Arial" panose="020B0604020202020204" pitchFamily="34" charset="0"/>
                </a:rPr>
                <a:t>Back</a:t>
              </a:r>
            </a:p>
          </p:txBody>
        </p:sp>
        <p:pic>
          <p:nvPicPr>
            <p:cNvPr id="5" name="Picture 4">
              <a:extLst>
                <a:ext uri="{FF2B5EF4-FFF2-40B4-BE49-F238E27FC236}">
                  <a16:creationId xmlns:a16="http://schemas.microsoft.com/office/drawing/2014/main" id="{3452FA70-9D2D-14E1-594C-B432B6F8D47A}"/>
                </a:ext>
              </a:extLst>
            </p:cNvPr>
            <p:cNvPicPr/>
            <p:nvPr/>
          </p:nvPicPr>
          <p:blipFill>
            <a:blip r:embed="rId2"/>
            <a:stretch>
              <a:fillRect/>
            </a:stretch>
          </p:blipFill>
          <p:spPr>
            <a:xfrm>
              <a:off x="-3236" y="-3302"/>
              <a:ext cx="3931920" cy="4934712"/>
            </a:xfrm>
            <a:prstGeom prst="rect">
              <a:avLst/>
            </a:prstGeom>
          </p:spPr>
        </p:pic>
        <p:sp>
          <p:nvSpPr>
            <p:cNvPr id="6" name="Shape 178">
              <a:extLst>
                <a:ext uri="{FF2B5EF4-FFF2-40B4-BE49-F238E27FC236}">
                  <a16:creationId xmlns:a16="http://schemas.microsoft.com/office/drawing/2014/main" id="{4B40B347-DF91-5318-715A-0C0330D73FB8}"/>
                </a:ext>
              </a:extLst>
            </p:cNvPr>
            <p:cNvSpPr/>
            <p:nvPr/>
          </p:nvSpPr>
          <p:spPr>
            <a:xfrm>
              <a:off x="3928375" y="694300"/>
              <a:ext cx="1211128" cy="1417901"/>
            </a:xfrm>
            <a:custGeom>
              <a:avLst/>
              <a:gdLst/>
              <a:ahLst/>
              <a:cxnLst/>
              <a:rect l="0" t="0" r="0" b="0"/>
              <a:pathLst>
                <a:path w="1211128" h="1417901">
                  <a:moveTo>
                    <a:pt x="0" y="0"/>
                  </a:moveTo>
                  <a:cubicBezTo>
                    <a:pt x="0" y="410925"/>
                    <a:pt x="311700" y="616388"/>
                    <a:pt x="623400" y="821850"/>
                  </a:cubicBezTo>
                  <a:cubicBezTo>
                    <a:pt x="779250" y="924581"/>
                    <a:pt x="935100" y="1027313"/>
                    <a:pt x="1051988" y="1155727"/>
                  </a:cubicBezTo>
                  <a:cubicBezTo>
                    <a:pt x="1110432" y="1219934"/>
                    <a:pt x="1159135" y="1290561"/>
                    <a:pt x="1193226" y="1370820"/>
                  </a:cubicBezTo>
                  <a:cubicBezTo>
                    <a:pt x="1197488" y="1380853"/>
                    <a:pt x="1201521" y="1391036"/>
                    <a:pt x="1205316" y="1401375"/>
                  </a:cubicBezTo>
                  <a:cubicBezTo>
                    <a:pt x="1207214" y="1406545"/>
                    <a:pt x="1209053" y="1411754"/>
                    <a:pt x="1210831" y="1417003"/>
                  </a:cubicBezTo>
                  <a:lnTo>
                    <a:pt x="1211128" y="1417901"/>
                  </a:lnTo>
                </a:path>
              </a:pathLst>
            </a:custGeom>
            <a:ln w="38100" cap="flat">
              <a:round/>
            </a:ln>
          </p:spPr>
          <p:style>
            <a:lnRef idx="1">
              <a:srgbClr val="3D85C6"/>
            </a:lnRef>
            <a:fillRef idx="0">
              <a:srgbClr val="000000">
                <a:alpha val="0"/>
              </a:srgbClr>
            </a:fillRef>
            <a:effectRef idx="0">
              <a:scrgbClr r="0" g="0" b="0"/>
            </a:effectRef>
            <a:fontRef idx="none"/>
          </p:style>
          <p:txBody>
            <a:bodyPr/>
            <a:lstStyle/>
            <a:p>
              <a:endParaRPr lang="en-US"/>
            </a:p>
          </p:txBody>
        </p:sp>
        <p:sp>
          <p:nvSpPr>
            <p:cNvPr id="7" name="Shape 179">
              <a:extLst>
                <a:ext uri="{FF2B5EF4-FFF2-40B4-BE49-F238E27FC236}">
                  <a16:creationId xmlns:a16="http://schemas.microsoft.com/office/drawing/2014/main" id="{F27F974A-C4A2-7D71-BF6D-E22A5382EE5D}"/>
                </a:ext>
              </a:extLst>
            </p:cNvPr>
            <p:cNvSpPr/>
            <p:nvPr/>
          </p:nvSpPr>
          <p:spPr>
            <a:xfrm>
              <a:off x="5077343" y="2102380"/>
              <a:ext cx="124320" cy="180604"/>
            </a:xfrm>
            <a:custGeom>
              <a:avLst/>
              <a:gdLst/>
              <a:ahLst/>
              <a:cxnLst/>
              <a:rect l="0" t="0" r="0" b="0"/>
              <a:pathLst>
                <a:path w="124320" h="180604">
                  <a:moveTo>
                    <a:pt x="124320" y="0"/>
                  </a:moveTo>
                  <a:lnTo>
                    <a:pt x="89141" y="180604"/>
                  </a:lnTo>
                  <a:lnTo>
                    <a:pt x="0" y="19640"/>
                  </a:lnTo>
                  <a:lnTo>
                    <a:pt x="124320" y="0"/>
                  </a:lnTo>
                  <a:close/>
                </a:path>
              </a:pathLst>
            </a:custGeom>
            <a:ln w="38100" cap="flat">
              <a:miter lim="127000"/>
            </a:ln>
          </p:spPr>
          <p:style>
            <a:lnRef idx="1">
              <a:srgbClr val="3D85C6"/>
            </a:lnRef>
            <a:fillRef idx="1">
              <a:srgbClr val="3D85C6"/>
            </a:fillRef>
            <a:effectRef idx="0">
              <a:scrgbClr r="0" g="0" b="0"/>
            </a:effectRef>
            <a:fontRef idx="none"/>
          </p:style>
          <p:txBody>
            <a:bodyPr/>
            <a:lstStyle/>
            <a:p>
              <a:endParaRPr lang="en-US"/>
            </a:p>
          </p:txBody>
        </p:sp>
      </p:grpSp>
    </p:spTree>
    <p:extLst>
      <p:ext uri="{BB962C8B-B14F-4D97-AF65-F5344CB8AC3E}">
        <p14:creationId xmlns:p14="http://schemas.microsoft.com/office/powerpoint/2010/main" val="2964388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576E8-8BAC-9961-054B-24C3E8A6A8C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BEA0D2-C66A-4D49-9244-3BAFF4F53CF0}"/>
              </a:ext>
            </a:extLst>
          </p:cNvPr>
          <p:cNvSpPr>
            <a:spLocks noGrp="1"/>
          </p:cNvSpPr>
          <p:nvPr>
            <p:ph type="sldNum" sz="quarter" idx="10"/>
          </p:nvPr>
        </p:nvSpPr>
        <p:spPr/>
        <p:txBody>
          <a:bodyPr/>
          <a:lstStyle/>
          <a:p>
            <a:fld id="{48F63A3B-78C7-47BE-AE5E-E10140E04643}" type="slidenum">
              <a:rPr lang="en-US" smtClean="0"/>
              <a:pPr/>
              <a:t>22</a:t>
            </a:fld>
            <a:endParaRPr lang="en-US" dirty="0"/>
          </a:p>
        </p:txBody>
      </p:sp>
      <p:sp>
        <p:nvSpPr>
          <p:cNvPr id="2" name="Shape 814">
            <a:extLst>
              <a:ext uri="{FF2B5EF4-FFF2-40B4-BE49-F238E27FC236}">
                <a16:creationId xmlns:a16="http://schemas.microsoft.com/office/drawing/2014/main" id="{70445778-788B-C15C-FA14-82A599642156}"/>
              </a:ext>
            </a:extLst>
          </p:cNvPr>
          <p:cNvSpPr/>
          <p:nvPr/>
        </p:nvSpPr>
        <p:spPr>
          <a:xfrm>
            <a:off x="0" y="1"/>
            <a:ext cx="12191999" cy="6858000"/>
          </a:xfrm>
          <a:custGeom>
            <a:avLst/>
            <a:gdLst/>
            <a:ahLst/>
            <a:cxnLst/>
            <a:rect l="0" t="0" r="0" b="0"/>
            <a:pathLst>
              <a:path w="9144000" h="5143500">
                <a:moveTo>
                  <a:pt x="0" y="0"/>
                </a:moveTo>
                <a:lnTo>
                  <a:pt x="9144000" y="0"/>
                </a:lnTo>
                <a:lnTo>
                  <a:pt x="9144000" y="5143500"/>
                </a:lnTo>
                <a:lnTo>
                  <a:pt x="0" y="5143500"/>
                </a:lnTo>
                <a:lnTo>
                  <a:pt x="0" y="0"/>
                </a:lnTo>
              </a:path>
            </a:pathLst>
          </a:custGeom>
          <a:ln w="0" cap="flat">
            <a:miter lim="127000"/>
          </a:ln>
        </p:spPr>
        <p:style>
          <a:lnRef idx="0">
            <a:srgbClr val="000000">
              <a:alpha val="0"/>
            </a:srgbClr>
          </a:lnRef>
          <a:fillRef idx="1">
            <a:srgbClr val="9FC5E8"/>
          </a:fillRef>
          <a:effectRef idx="0">
            <a:scrgbClr r="0" g="0" b="0"/>
          </a:effectRef>
          <a:fontRef idx="none"/>
        </p:style>
        <p:txBody>
          <a:bodyPr/>
          <a:lstStyle/>
          <a:p>
            <a:endParaRPr lang="en-US"/>
          </a:p>
        </p:txBody>
      </p:sp>
      <p:pic>
        <p:nvPicPr>
          <p:cNvPr id="4" name="Picture 3">
            <a:extLst>
              <a:ext uri="{FF2B5EF4-FFF2-40B4-BE49-F238E27FC236}">
                <a16:creationId xmlns:a16="http://schemas.microsoft.com/office/drawing/2014/main" id="{29D8FB00-66B1-95FB-C994-FF78C82AD9C7}"/>
              </a:ext>
            </a:extLst>
          </p:cNvPr>
          <p:cNvPicPr/>
          <p:nvPr/>
        </p:nvPicPr>
        <p:blipFill>
          <a:blip r:embed="rId2"/>
          <a:stretch>
            <a:fillRect/>
          </a:stretch>
        </p:blipFill>
        <p:spPr>
          <a:xfrm>
            <a:off x="1527858" y="1"/>
            <a:ext cx="3406727" cy="6857999"/>
          </a:xfrm>
          <a:prstGeom prst="rect">
            <a:avLst/>
          </a:prstGeom>
        </p:spPr>
      </p:pic>
      <p:pic>
        <p:nvPicPr>
          <p:cNvPr id="5" name="Picture 4">
            <a:extLst>
              <a:ext uri="{FF2B5EF4-FFF2-40B4-BE49-F238E27FC236}">
                <a16:creationId xmlns:a16="http://schemas.microsoft.com/office/drawing/2014/main" id="{290CD46C-6F55-A61D-43C8-CD25A481AC9F}"/>
              </a:ext>
            </a:extLst>
          </p:cNvPr>
          <p:cNvPicPr/>
          <p:nvPr/>
        </p:nvPicPr>
        <p:blipFill>
          <a:blip r:embed="rId3"/>
          <a:stretch>
            <a:fillRect/>
          </a:stretch>
        </p:blipFill>
        <p:spPr>
          <a:xfrm>
            <a:off x="6937004" y="1"/>
            <a:ext cx="3406727" cy="6857998"/>
          </a:xfrm>
          <a:prstGeom prst="rect">
            <a:avLst/>
          </a:prstGeom>
        </p:spPr>
      </p:pic>
    </p:spTree>
    <p:extLst>
      <p:ext uri="{BB962C8B-B14F-4D97-AF65-F5344CB8AC3E}">
        <p14:creationId xmlns:p14="http://schemas.microsoft.com/office/powerpoint/2010/main" val="158737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914399" y="834635"/>
            <a:ext cx="7796464" cy="1222385"/>
          </a:xfrm>
        </p:spPr>
        <p:txBody>
          <a:bodyPr/>
          <a:lstStyle/>
          <a:p>
            <a:r>
              <a:rPr lang="en-US" dirty="0"/>
              <a:t>rationale</a:t>
            </a: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23</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914400" y="2303028"/>
            <a:ext cx="7061200" cy="3720337"/>
          </a:xfrm>
        </p:spPr>
        <p:txBody>
          <a:bodyPr>
            <a:normAutofit/>
          </a:bodyPr>
          <a:lstStyle/>
          <a:p>
            <a:pPr lvl="0"/>
            <a:r>
              <a:rPr lang="en-US" b="1" dirty="0"/>
              <a:t>1. Mobile penetration in Kenya &gt;90%</a:t>
            </a:r>
            <a:r>
              <a:rPr lang="en-US" dirty="0"/>
              <a:t> → The tech infrastructure exists.</a:t>
            </a:r>
          </a:p>
          <a:p>
            <a:pPr lvl="0"/>
            <a:r>
              <a:rPr lang="en-US" b="1" dirty="0"/>
              <a:t>2. App-based learning = low cost, scalable, engaging.</a:t>
            </a:r>
            <a:endParaRPr lang="en-US" dirty="0"/>
          </a:p>
          <a:p>
            <a:pPr lvl="0"/>
            <a:r>
              <a:rPr lang="en-US" b="1" dirty="0"/>
              <a:t>3. Corporate Social Responsibility relevance</a:t>
            </a:r>
            <a:r>
              <a:rPr lang="en-US" dirty="0"/>
              <a:t>: Education is a top priority for development partners and global impact investors.</a:t>
            </a:r>
          </a:p>
          <a:p>
            <a:endParaRPr lang="en-US" dirty="0"/>
          </a:p>
        </p:txBody>
      </p:sp>
    </p:spTree>
    <p:extLst>
      <p:ext uri="{BB962C8B-B14F-4D97-AF65-F5344CB8AC3E}">
        <p14:creationId xmlns:p14="http://schemas.microsoft.com/office/powerpoint/2010/main" val="2468595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EAFE5-6180-EDC5-A1B9-63D4B6A6F6CB}"/>
              </a:ext>
            </a:extLst>
          </p:cNvPr>
          <p:cNvSpPr>
            <a:spLocks noGrp="1"/>
          </p:cNvSpPr>
          <p:nvPr>
            <p:ph type="title"/>
          </p:nvPr>
        </p:nvSpPr>
        <p:spPr/>
        <p:txBody>
          <a:bodyPr/>
          <a:lstStyle/>
          <a:p>
            <a:r>
              <a:rPr lang="en-US" dirty="0"/>
              <a:t>NEEDS AND PAIN POINTS</a:t>
            </a:r>
          </a:p>
        </p:txBody>
      </p:sp>
      <p:sp>
        <p:nvSpPr>
          <p:cNvPr id="3" name="Slide Number Placeholder 2">
            <a:extLst>
              <a:ext uri="{FF2B5EF4-FFF2-40B4-BE49-F238E27FC236}">
                <a16:creationId xmlns:a16="http://schemas.microsoft.com/office/drawing/2014/main" id="{7D642863-A413-390A-554D-4C1B3AA2CAF5}"/>
              </a:ext>
            </a:extLst>
          </p:cNvPr>
          <p:cNvSpPr>
            <a:spLocks noGrp="1"/>
          </p:cNvSpPr>
          <p:nvPr>
            <p:ph type="sldNum" sz="quarter" idx="10"/>
          </p:nvPr>
        </p:nvSpPr>
        <p:spPr/>
        <p:txBody>
          <a:bodyPr/>
          <a:lstStyle/>
          <a:p>
            <a:fld id="{48F63A3B-78C7-47BE-AE5E-E10140E04643}" type="slidenum">
              <a:rPr lang="en-US" smtClean="0"/>
              <a:pPr/>
              <a:t>24</a:t>
            </a:fld>
            <a:endParaRPr lang="en-US" dirty="0"/>
          </a:p>
        </p:txBody>
      </p:sp>
      <p:sp>
        <p:nvSpPr>
          <p:cNvPr id="4" name="Content Placeholder 3">
            <a:extLst>
              <a:ext uri="{FF2B5EF4-FFF2-40B4-BE49-F238E27FC236}">
                <a16:creationId xmlns:a16="http://schemas.microsoft.com/office/drawing/2014/main" id="{2C0EE489-72AC-F2CB-3DEF-F64BB089FB73}"/>
              </a:ext>
            </a:extLst>
          </p:cNvPr>
          <p:cNvSpPr>
            <a:spLocks noGrp="1"/>
          </p:cNvSpPr>
          <p:nvPr>
            <p:ph sz="half" idx="2"/>
          </p:nvPr>
        </p:nvSpPr>
        <p:spPr/>
        <p:txBody>
          <a:bodyPr>
            <a:normAutofit fontScale="85000" lnSpcReduction="10000"/>
          </a:bodyPr>
          <a:lstStyle/>
          <a:p>
            <a:r>
              <a:rPr lang="en-US" dirty="0"/>
              <a:t>USER PAINPOINTS</a:t>
            </a:r>
          </a:p>
          <a:p>
            <a:r>
              <a:rPr lang="en-US" b="1" dirty="0"/>
              <a:t>1.      Students, a group that forms part of our users are frustrated by the fact that they are left behind during class and catching becomes really hectic making them develop a low self esteem earlier on in life.</a:t>
            </a:r>
            <a:endParaRPr lang="en-US" dirty="0"/>
          </a:p>
          <a:p>
            <a:r>
              <a:rPr lang="en-US" b="1" dirty="0"/>
              <a:t>2.      Teachers, another group that forms part of our users are frustrated by the fact that a lot of pressure is put on them to ensure all the learners excel despite having inadequate learning materials and a relatively large number of students to focus on individually.</a:t>
            </a:r>
            <a:endParaRPr lang="en-US" dirty="0"/>
          </a:p>
        </p:txBody>
      </p:sp>
      <p:sp>
        <p:nvSpPr>
          <p:cNvPr id="5" name="Content Placeholder 4">
            <a:extLst>
              <a:ext uri="{FF2B5EF4-FFF2-40B4-BE49-F238E27FC236}">
                <a16:creationId xmlns:a16="http://schemas.microsoft.com/office/drawing/2014/main" id="{7411BCC1-F81D-93D6-AC22-29481AE6D7AB}"/>
              </a:ext>
            </a:extLst>
          </p:cNvPr>
          <p:cNvSpPr>
            <a:spLocks noGrp="1"/>
          </p:cNvSpPr>
          <p:nvPr>
            <p:ph sz="quarter" idx="4"/>
          </p:nvPr>
        </p:nvSpPr>
        <p:spPr/>
        <p:txBody>
          <a:bodyPr>
            <a:normAutofit fontScale="92500" lnSpcReduction="20000"/>
          </a:bodyPr>
          <a:lstStyle/>
          <a:p>
            <a:r>
              <a:rPr lang="en-US" dirty="0"/>
              <a:t>USER NEEDS</a:t>
            </a:r>
          </a:p>
          <a:p>
            <a:pPr lvl="0"/>
            <a:r>
              <a:rPr lang="en-US" dirty="0"/>
              <a:t>Students need an interactive system designed to help them catch up and actively learn based on the level they are at in their academic journey.</a:t>
            </a:r>
          </a:p>
          <a:p>
            <a:pPr lvl="0"/>
            <a:r>
              <a:rPr lang="en-US" dirty="0"/>
              <a:t>Teachers need an interactive system equipped with adequate learning materials and designed in a manner that enables them to keep track of each of the students’ progress</a:t>
            </a:r>
          </a:p>
          <a:p>
            <a:pPr lvl="0"/>
            <a:r>
              <a:rPr lang="en-US" dirty="0"/>
              <a:t>Parents need a system that actively includes them in their children’s learning journey.</a:t>
            </a:r>
          </a:p>
          <a:p>
            <a:endParaRPr lang="en-US" dirty="0"/>
          </a:p>
        </p:txBody>
      </p:sp>
    </p:spTree>
    <p:extLst>
      <p:ext uri="{BB962C8B-B14F-4D97-AF65-F5344CB8AC3E}">
        <p14:creationId xmlns:p14="http://schemas.microsoft.com/office/powerpoint/2010/main" val="3379702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F1451-A2AE-2E8C-9FFD-98F9C555B018}"/>
              </a:ext>
            </a:extLst>
          </p:cNvPr>
          <p:cNvSpPr>
            <a:spLocks noGrp="1"/>
          </p:cNvSpPr>
          <p:nvPr>
            <p:ph type="title"/>
          </p:nvPr>
        </p:nvSpPr>
        <p:spPr/>
        <p:txBody>
          <a:bodyPr/>
          <a:lstStyle/>
          <a:p>
            <a:r>
              <a:rPr lang="en-US" dirty="0"/>
              <a:t>CHANGES TO BE MADE BASED ON USER FEEDBACK</a:t>
            </a:r>
          </a:p>
        </p:txBody>
      </p:sp>
      <p:sp>
        <p:nvSpPr>
          <p:cNvPr id="3" name="Slide Number Placeholder 2">
            <a:extLst>
              <a:ext uri="{FF2B5EF4-FFF2-40B4-BE49-F238E27FC236}">
                <a16:creationId xmlns:a16="http://schemas.microsoft.com/office/drawing/2014/main" id="{1E4B47CF-E593-BE6E-26ED-7AA9B94BE7B1}"/>
              </a:ext>
            </a:extLst>
          </p:cNvPr>
          <p:cNvSpPr>
            <a:spLocks noGrp="1"/>
          </p:cNvSpPr>
          <p:nvPr>
            <p:ph type="sldNum" sz="quarter" idx="10"/>
          </p:nvPr>
        </p:nvSpPr>
        <p:spPr/>
        <p:txBody>
          <a:bodyPr/>
          <a:lstStyle/>
          <a:p>
            <a:fld id="{48F63A3B-78C7-47BE-AE5E-E10140E04643}" type="slidenum">
              <a:rPr lang="en-US" smtClean="0"/>
              <a:pPr/>
              <a:t>25</a:t>
            </a:fld>
            <a:endParaRPr lang="en-US" dirty="0"/>
          </a:p>
        </p:txBody>
      </p:sp>
      <p:sp>
        <p:nvSpPr>
          <p:cNvPr id="4" name="Content Placeholder 3">
            <a:extLst>
              <a:ext uri="{FF2B5EF4-FFF2-40B4-BE49-F238E27FC236}">
                <a16:creationId xmlns:a16="http://schemas.microsoft.com/office/drawing/2014/main" id="{BE0923B2-0BA5-40F8-83C7-112054A14FC8}"/>
              </a:ext>
            </a:extLst>
          </p:cNvPr>
          <p:cNvSpPr>
            <a:spLocks noGrp="1"/>
          </p:cNvSpPr>
          <p:nvPr>
            <p:ph sz="half" idx="2"/>
          </p:nvPr>
        </p:nvSpPr>
        <p:spPr>
          <a:xfrm>
            <a:off x="914400" y="2303028"/>
            <a:ext cx="7396223" cy="3720337"/>
          </a:xfrm>
        </p:spPr>
        <p:txBody>
          <a:bodyPr/>
          <a:lstStyle/>
          <a:p>
            <a:pPr marL="342900" indent="-342900">
              <a:buAutoNum type="arabicPeriod"/>
            </a:pPr>
            <a:r>
              <a:rPr lang="en-US" dirty="0"/>
              <a:t>Add books for the learners to read to make learning more comprehensive </a:t>
            </a:r>
          </a:p>
          <a:p>
            <a:pPr marL="342900" indent="-342900">
              <a:buAutoNum type="arabicPeriod"/>
            </a:pPr>
            <a:r>
              <a:rPr lang="en-US" dirty="0"/>
              <a:t>Add children friendly designs to the background </a:t>
            </a:r>
          </a:p>
          <a:p>
            <a:pPr marL="342900" indent="-342900">
              <a:buAutoNum type="arabicPeriod"/>
            </a:pPr>
            <a:r>
              <a:rPr lang="en-US" dirty="0"/>
              <a:t>Add something that mimics a game for example having reading quizzes, leaderboards and badges </a:t>
            </a:r>
          </a:p>
        </p:txBody>
      </p:sp>
    </p:spTree>
    <p:extLst>
      <p:ext uri="{BB962C8B-B14F-4D97-AF65-F5344CB8AC3E}">
        <p14:creationId xmlns:p14="http://schemas.microsoft.com/office/powerpoint/2010/main" val="800349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550563" y="1089213"/>
            <a:ext cx="9879437" cy="980844"/>
          </a:xfrm>
        </p:spPr>
        <p:txBody>
          <a:bodyPr/>
          <a:lstStyle/>
          <a:p>
            <a:r>
              <a:rPr lang="en-US" dirty="0"/>
              <a:t>Next steps if funded</a:t>
            </a:r>
          </a:p>
        </p:txBody>
      </p:sp>
      <p:sp>
        <p:nvSpPr>
          <p:cNvPr id="4" name="Text Placeholder 3">
            <a:extLst>
              <a:ext uri="{FF2B5EF4-FFF2-40B4-BE49-F238E27FC236}">
                <a16:creationId xmlns:a16="http://schemas.microsoft.com/office/drawing/2014/main" id="{97DCC342-9FD1-7055-EAAC-008DC851B13F}"/>
              </a:ext>
            </a:extLst>
          </p:cNvPr>
          <p:cNvSpPr>
            <a:spLocks noGrp="1"/>
          </p:cNvSpPr>
          <p:nvPr>
            <p:ph type="body" sz="quarter" idx="13"/>
          </p:nvPr>
        </p:nvSpPr>
        <p:spPr>
          <a:xfrm>
            <a:off x="1550564" y="2331958"/>
            <a:ext cx="8164936" cy="3704266"/>
          </a:xfrm>
        </p:spPr>
        <p:txBody>
          <a:bodyPr/>
          <a:lstStyle/>
          <a:p>
            <a:pPr lvl="0"/>
            <a:r>
              <a:rPr lang="en-US" b="1" dirty="0"/>
              <a:t>1. Minimum Viable Product development &amp; pilot</a:t>
            </a:r>
            <a:r>
              <a:rPr lang="en-US" dirty="0"/>
              <a:t> in 2–3 rural schools.</a:t>
            </a:r>
          </a:p>
          <a:p>
            <a:pPr lvl="0"/>
            <a:r>
              <a:rPr lang="en-US" b="1" dirty="0"/>
              <a:t>2. User testing &amp; feedback loop</a:t>
            </a:r>
            <a:r>
              <a:rPr lang="en-US" dirty="0"/>
              <a:t> with children, teachers, and parents.</a:t>
            </a:r>
          </a:p>
          <a:p>
            <a:pPr lvl="0"/>
            <a:r>
              <a:rPr lang="en-US" b="1" dirty="0"/>
              <a:t>3. Scale-up</a:t>
            </a:r>
            <a:r>
              <a:rPr lang="en-US" dirty="0"/>
              <a:t> to more grades and communities.</a:t>
            </a:r>
          </a:p>
          <a:p>
            <a:pPr lvl="0"/>
            <a:r>
              <a:rPr lang="en-US" b="1" dirty="0"/>
              <a:t>4. Impact reporting</a:t>
            </a:r>
            <a:r>
              <a:rPr lang="en-US" dirty="0"/>
              <a:t> to demonstrate literacy gains and Corporate Social </a:t>
            </a:r>
            <a:r>
              <a:rPr lang="en-US" dirty="0" err="1"/>
              <a:t>Responsibilty</a:t>
            </a:r>
            <a:r>
              <a:rPr lang="en-US" dirty="0"/>
              <a:t> Return On Investment.</a:t>
            </a:r>
          </a:p>
          <a:p>
            <a:pPr lvl="0"/>
            <a:r>
              <a:rPr lang="en-US" b="1" dirty="0"/>
              <a:t>5. Integration</a:t>
            </a:r>
            <a:r>
              <a:rPr lang="en-US" dirty="0"/>
              <a:t> into CBC and national education ecosystem for sustainability.</a:t>
            </a:r>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26</a:t>
            </a:fld>
            <a:endParaRPr lang="en-US" dirty="0"/>
          </a:p>
        </p:txBody>
      </p:sp>
    </p:spTree>
    <p:extLst>
      <p:ext uri="{BB962C8B-B14F-4D97-AF65-F5344CB8AC3E}">
        <p14:creationId xmlns:p14="http://schemas.microsoft.com/office/powerpoint/2010/main" val="39699961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C8FCC-00F6-4E39-E597-58125B3A367A}"/>
              </a:ext>
            </a:extLst>
          </p:cNvPr>
          <p:cNvSpPr>
            <a:spLocks noGrp="1"/>
          </p:cNvSpPr>
          <p:nvPr>
            <p:ph type="title"/>
          </p:nvPr>
        </p:nvSpPr>
        <p:spPr/>
        <p:txBody>
          <a:bodyPr/>
          <a:lstStyle/>
          <a:p>
            <a:r>
              <a:rPr lang="en-US" dirty="0"/>
              <a:t>Our why</a:t>
            </a:r>
          </a:p>
        </p:txBody>
      </p:sp>
      <p:sp>
        <p:nvSpPr>
          <p:cNvPr id="3" name="Text Placeholder 2">
            <a:extLst>
              <a:ext uri="{FF2B5EF4-FFF2-40B4-BE49-F238E27FC236}">
                <a16:creationId xmlns:a16="http://schemas.microsoft.com/office/drawing/2014/main" id="{5B6110CF-347F-8023-B051-8E52C06C7D15}"/>
              </a:ext>
            </a:extLst>
          </p:cNvPr>
          <p:cNvSpPr>
            <a:spLocks noGrp="1"/>
          </p:cNvSpPr>
          <p:nvPr>
            <p:ph type="body" sz="quarter" idx="13"/>
          </p:nvPr>
        </p:nvSpPr>
        <p:spPr>
          <a:xfrm>
            <a:off x="1550564" y="2331958"/>
            <a:ext cx="9879436" cy="3704266"/>
          </a:xfrm>
        </p:spPr>
        <p:txBody>
          <a:bodyPr/>
          <a:lstStyle/>
          <a:p>
            <a:r>
              <a:rPr lang="en-US" dirty="0"/>
              <a:t>We believe every child in Kenya deserves the chance to read, learn, and thrive. Yet, in rural and low-income communities, most children especially earlier on in their academic journey in Grades 1–6, are not acquiring essential reading skills, leaving them at risk of falling permanently behind and trapped in cycles of poverty. Owing to this, we’ve come up with a learning app idea designed to help students catch up at their own pace, support teachers with better tools, and give parents real-time visibility into their children’s progress, ensuring no child is left behind in class.</a:t>
            </a:r>
          </a:p>
        </p:txBody>
      </p:sp>
      <p:sp>
        <p:nvSpPr>
          <p:cNvPr id="5" name="Slide Number Placeholder 4">
            <a:extLst>
              <a:ext uri="{FF2B5EF4-FFF2-40B4-BE49-F238E27FC236}">
                <a16:creationId xmlns:a16="http://schemas.microsoft.com/office/drawing/2014/main" id="{15B2BFF8-750A-09AC-BAF3-4CC016AE9575}"/>
              </a:ext>
            </a:extLst>
          </p:cNvPr>
          <p:cNvSpPr>
            <a:spLocks noGrp="1"/>
          </p:cNvSpPr>
          <p:nvPr>
            <p:ph type="sldNum" sz="quarter" idx="10"/>
          </p:nvPr>
        </p:nvSpPr>
        <p:spPr/>
        <p:txBody>
          <a:bodyPr/>
          <a:lstStyle/>
          <a:p>
            <a:fld id="{48F63A3B-78C7-47BE-AE5E-E10140E04643}" type="slidenum">
              <a:rPr lang="en-US" smtClean="0"/>
              <a:pPr/>
              <a:t>27</a:t>
            </a:fld>
            <a:endParaRPr lang="en-US" dirty="0"/>
          </a:p>
        </p:txBody>
      </p:sp>
    </p:spTree>
    <p:extLst>
      <p:ext uri="{BB962C8B-B14F-4D97-AF65-F5344CB8AC3E}">
        <p14:creationId xmlns:p14="http://schemas.microsoft.com/office/powerpoint/2010/main" val="24763585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r>
              <a:rPr lang="en-US" dirty="0"/>
              <a:t>Mind Bridge</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{F663198A-D42A-4313-B632-D59CD8DCB451}TF8a9b5915-b8c7-461e-8cdd-693d48b5e32371f7b7e2_win32-4bf0b9a2ea37</Template>
  <TotalTime>299</TotalTime>
  <Words>1069</Words>
  <Application>Microsoft Office PowerPoint</Application>
  <PresentationFormat>Widescreen</PresentationFormat>
  <Paragraphs>122</Paragraphs>
  <Slides>28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Arial Black</vt:lpstr>
      <vt:lpstr>Calibri</vt:lpstr>
      <vt:lpstr>Sabon Next LT</vt:lpstr>
      <vt:lpstr>Custom</vt:lpstr>
      <vt:lpstr>MIND BRIDGE: 1. Gleta Kijogi- Data Analyst  2. Benard Omboga- Data Analyst  3. Yvette Adhiambo- UI/UX designer  4. Jackson Mutava- UX researcher  5. Maxwel Kiambati- Project Manager  6. Nickson Safari- Product manager </vt:lpstr>
      <vt:lpstr>agenda</vt:lpstr>
      <vt:lpstr>Problem statement Summary</vt:lpstr>
      <vt:lpstr>User persona; Amina- 8yrs old</vt:lpstr>
      <vt:lpstr>Data visualization</vt:lpstr>
      <vt:lpstr>PowerPoint Presentation</vt:lpstr>
      <vt:lpstr>PowerPoint Presentation</vt:lpstr>
      <vt:lpstr>Recommended solution- mobile camp app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rationale</vt:lpstr>
      <vt:lpstr>NEEDS AND PAIN POINTS</vt:lpstr>
      <vt:lpstr>CHANGES TO BE MADE BASED ON USER FEEDBACK</vt:lpstr>
      <vt:lpstr>Next steps if funded</vt:lpstr>
      <vt:lpstr>Our why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Gleta K</dc:creator>
  <cp:lastModifiedBy>Gleta K</cp:lastModifiedBy>
  <cp:revision>2</cp:revision>
  <dcterms:created xsi:type="dcterms:W3CDTF">2025-08-25T07:57:36Z</dcterms:created>
  <dcterms:modified xsi:type="dcterms:W3CDTF">2025-08-25T23:48:42Z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